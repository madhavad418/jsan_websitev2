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message: JSAN can support the full utility digitization lifecycle from field capture to enterprise GIS readiness across electrical, water and gas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frame the discussion around a common operating model, not three disconnected survey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operating model: survey, evidence, QA, structured GIS and operational outputs. Invite discussion on customer geography, utility, standards and target GIS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6A9E"/>
          </a:solidFill>
          <a:ln w="12700">
            <a:solidFill>
              <a:srgbClr val="006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D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JSAN Consulting  |  Utility Network Intelligence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D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Confidential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jp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pic>
        <p:nvPicPr>
          <p:cNvPr id="3" name="Image 0" descr="/mnt/data/srcppt/ppt/media/image18.jpeg">    </p:cNvPr>
          <p:cNvPicPr>
            <a:picLocks noChangeAspect="1"/>
          </p:cNvPicPr>
          <p:nvPr/>
        </p:nvPicPr>
        <p:blipFill>
          <a:blip r:embed="rId1"/>
          <a:srcRect l="0" r="0" t="30603" b="30603"/>
          <a:stretch/>
        </p:blipFill>
        <p:spPr>
          <a:xfrm>
            <a:off x="7680960" y="0"/>
            <a:ext cx="4507992" cy="2331720"/>
          </a:xfrm>
          <a:prstGeom prst="rect">
            <a:avLst/>
          </a:prstGeom>
        </p:spPr>
      </p:pic>
      <p:pic>
        <p:nvPicPr>
          <p:cNvPr id="4" name="Image 1" descr="/mnt/data/srcppt/ppt/media/image34.png">    </p:cNvPr>
          <p:cNvPicPr>
            <a:picLocks noChangeAspect="1"/>
          </p:cNvPicPr>
          <p:nvPr/>
        </p:nvPicPr>
        <p:blipFill>
          <a:blip r:embed="rId2"/>
          <a:srcRect l="0" r="0" t="7224" b="7224"/>
          <a:stretch/>
        </p:blipFill>
        <p:spPr>
          <a:xfrm>
            <a:off x="7680960" y="2331720"/>
            <a:ext cx="4507992" cy="2240280"/>
          </a:xfrm>
          <a:prstGeom prst="rect">
            <a:avLst/>
          </a:prstGeom>
        </p:spPr>
      </p:pic>
      <p:pic>
        <p:nvPicPr>
          <p:cNvPr id="5" name="Image 2" descr="/mnt/data/srcppt/ppt/media/image38.png">    </p:cNvPr>
          <p:cNvPicPr>
            <a:picLocks noChangeAspect="1"/>
          </p:cNvPicPr>
          <p:nvPr/>
        </p:nvPicPr>
        <p:blipFill>
          <a:blip r:embed="rId3"/>
          <a:srcRect l="0" r="0" t="3293" b="3293"/>
          <a:stretch/>
        </p:blipFill>
        <p:spPr>
          <a:xfrm>
            <a:off x="7680960" y="4572000"/>
            <a:ext cx="4507992" cy="2286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7452360" y="0"/>
            <a:ext cx="411480" cy="6858000"/>
          </a:xfrm>
          <a:prstGeom prst="rect">
            <a:avLst/>
          </a:prstGeom>
          <a:solidFill>
            <a:srgbClr val="00A6D6">
              <a:alpha val="95000"/>
            </a:srgbClr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pic>
        <p:nvPicPr>
          <p:cNvPr id="7" name="Image 3" descr="/mnt/data/image(20260807-130655)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" y="502920"/>
            <a:ext cx="1604772" cy="59436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66928" y="1600200"/>
            <a:ext cx="2651760" cy="256032"/>
          </a:xfrm>
          <a:prstGeom prst="roundRect">
            <a:avLst>
              <a:gd name="adj" fmla="val 42857"/>
            </a:avLst>
          </a:prstGeom>
          <a:solidFill>
            <a:srgbClr val="16364B"/>
          </a:solidFill>
          <a:ln w="12700">
            <a:solidFill>
              <a:srgbClr val="16364B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640080" y="1636776"/>
            <a:ext cx="2505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D6"/>
                </a:solidFill>
              </a:rPr>
              <a:t>UTILITY GIS • FIELD TO PLATFORM</a:t>
            </a:r>
            <a:endParaRPr lang="en-US" sz="720" dirty="0"/>
          </a:p>
        </p:txBody>
      </p:sp>
      <p:sp>
        <p:nvSpPr>
          <p:cNvPr id="10" name="Text 4"/>
          <p:cNvSpPr/>
          <p:nvPr/>
        </p:nvSpPr>
        <p:spPr>
          <a:xfrm>
            <a:off x="566928" y="2084832"/>
            <a:ext cx="6263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Utility Network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</a:t>
            </a:r>
            <a:endParaRPr lang="en-US" sz="3800" dirty="0"/>
          </a:p>
        </p:txBody>
      </p:sp>
      <p:sp>
        <p:nvSpPr>
          <p:cNvPr id="11" name="Text 5"/>
          <p:cNvSpPr/>
          <p:nvPr/>
        </p:nvSpPr>
        <p:spPr>
          <a:xfrm>
            <a:off x="585216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0D8F0"/>
                </a:solidFill>
              </a:rPr>
              <a:t>Electrical • Water • Gas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85216" y="3931920"/>
            <a:ext cx="60807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AF1"/>
                </a:solidFill>
              </a:rPr>
              <a:t>A connected operating model for field survey, asset digitization, consumer indexing, topology validation and enterprise GIS migration.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585216" y="5989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B7C6"/>
                </a:solidFill>
              </a:rPr>
              <a:t>Customer capability presentation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585216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JSAN Consulting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MESSAGE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operating model can digitize three utility domains while preserving domain-specific asset and safety requirements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material consistently points to the same backbone: field evidence → QA/QC → GIS database → operational map products.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719072"/>
            <a:ext cx="3218688" cy="33375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2376" y="1965960"/>
            <a:ext cx="530352" cy="530352"/>
          </a:xfrm>
          <a:prstGeom prst="ellipse">
            <a:avLst/>
          </a:prstGeom>
          <a:solidFill>
            <a:srgbClr val="EDF5F9"/>
          </a:solidFill>
          <a:ln w="12700">
            <a:solidFill>
              <a:srgbClr val="EDF5F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964" y="2087941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76B7"/>
                </a:solidFill>
              </a:rPr>
              <a:t>Electrical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22376" y="2651760"/>
            <a:ext cx="2761488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554"/>
                </a:solidFill>
              </a:rPr>
              <a:t>Pole-to-pole network capture, land-base extraction, consumer survey and topology-ready electrical network mapping.</a:t>
            </a:r>
            <a:endParaRPr lang="en-US" sz="920" dirty="0"/>
          </a:p>
        </p:txBody>
      </p:sp>
      <p:sp>
        <p:nvSpPr>
          <p:cNvPr id="11" name="Text 7"/>
          <p:cNvSpPr/>
          <p:nvPr/>
        </p:nvSpPr>
        <p:spPr>
          <a:xfrm>
            <a:off x="722376" y="3584448"/>
            <a:ext cx="276148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Pole / line / transformer digitization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Pole codification and field verification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to GE Smallworld / ArcGIS</a:t>
            </a:r>
            <a:endParaRPr lang="en-US" sz="830" dirty="0"/>
          </a:p>
        </p:txBody>
      </p:sp>
      <p:sp>
        <p:nvSpPr>
          <p:cNvPr id="12" name="Shape 8"/>
          <p:cNvSpPr/>
          <p:nvPr/>
        </p:nvSpPr>
        <p:spPr>
          <a:xfrm>
            <a:off x="4096512" y="1719072"/>
            <a:ext cx="3218688" cy="33375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50000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15968" y="1965960"/>
            <a:ext cx="530352" cy="530352"/>
          </a:xfrm>
          <a:prstGeom prst="ellipse">
            <a:avLst/>
          </a:prstGeom>
          <a:solidFill>
            <a:srgbClr val="EDF5F9"/>
          </a:solidFill>
          <a:ln w="12700">
            <a:solidFill>
              <a:srgbClr val="EDF5F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8556" y="2087941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65192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7C7"/>
                </a:solidFill>
              </a:rPr>
              <a:t>Water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315968" y="2651760"/>
            <a:ext cx="2761488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554"/>
                </a:solidFill>
              </a:rPr>
              <a:t>Distribution-asset and consumer indexing designed to improve network visibility, maintenance planning and leak response.</a:t>
            </a:r>
            <a:endParaRPr lang="en-US" sz="920" dirty="0"/>
          </a:p>
        </p:txBody>
      </p:sp>
      <p:sp>
        <p:nvSpPr>
          <p:cNvPr id="17" name="Text 12"/>
          <p:cNvSpPr/>
          <p:nvPr/>
        </p:nvSpPr>
        <p:spPr>
          <a:xfrm>
            <a:off x="4315968" y="3584448"/>
            <a:ext cx="276148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Valves, hydrants and meters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connection mapping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Zonal / DMA-wise map outputs</a:t>
            </a:r>
            <a:endParaRPr lang="en-US" sz="830" dirty="0"/>
          </a:p>
        </p:txBody>
      </p:sp>
      <p:sp>
        <p:nvSpPr>
          <p:cNvPr id="18" name="Shape 13"/>
          <p:cNvSpPr/>
          <p:nvPr/>
        </p:nvSpPr>
        <p:spPr>
          <a:xfrm>
            <a:off x="7690104" y="1719072"/>
            <a:ext cx="3218688" cy="33375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500000000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909560" y="1965960"/>
            <a:ext cx="530352" cy="530352"/>
          </a:xfrm>
          <a:prstGeom prst="ellipse">
            <a:avLst/>
          </a:prstGeom>
          <a:solidFill>
            <a:srgbClr val="EDF5F9"/>
          </a:solidFill>
          <a:ln w="12700">
            <a:solidFill>
              <a:srgbClr val="EDF5F9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2148" y="2087941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58784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667D"/>
                </a:solidFill>
              </a:rPr>
              <a:t>Gas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909560" y="2651760"/>
            <a:ext cx="2761488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554"/>
                </a:solidFill>
              </a:rPr>
              <a:t>Safety-focused asset inventory and service-area mapping with traceable field evidence and operational GIS outputs.</a:t>
            </a:r>
            <a:endParaRPr lang="en-US" sz="920" dirty="0"/>
          </a:p>
        </p:txBody>
      </p:sp>
      <p:sp>
        <p:nvSpPr>
          <p:cNvPr id="23" name="Text 17"/>
          <p:cNvSpPr/>
          <p:nvPr/>
        </p:nvSpPr>
        <p:spPr>
          <a:xfrm>
            <a:off x="7909560" y="3584448"/>
            <a:ext cx="276148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Pipelines, valves, regulators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 stations and service connections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 zone / service-area maps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502920" y="5276088"/>
            <a:ext cx="10405872" cy="758952"/>
          </a:xfrm>
          <a:prstGeom prst="roundRect">
            <a:avLst>
              <a:gd name="adj" fmla="val 7229"/>
            </a:avLst>
          </a:prstGeom>
          <a:solidFill>
            <a:srgbClr val="E8F3F8"/>
          </a:solidFill>
          <a:ln w="12700">
            <a:solidFill>
              <a:srgbClr val="CCE2E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13232" y="54681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6A9E"/>
                </a:solidFill>
              </a:rPr>
              <a:t>Executive implication</a:t>
            </a:r>
            <a:endParaRPr lang="en-US" sz="820" dirty="0"/>
          </a:p>
        </p:txBody>
      </p:sp>
      <p:sp>
        <p:nvSpPr>
          <p:cNvPr id="26" name="Text 20"/>
          <p:cNvSpPr/>
          <p:nvPr/>
        </p:nvSpPr>
        <p:spPr>
          <a:xfrm>
            <a:off x="2039112" y="5394960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2033"/>
                </a:solidFill>
              </a:rPr>
              <a:t>Standardize the shared data, QA and delivery backbone once—then configure asset taxonomy, topology rules and operational outputs by utility.</a:t>
            </a:r>
            <a:endParaRPr lang="en-US" sz="1130" dirty="0"/>
          </a:p>
        </p:txBody>
      </p:sp>
      <p:sp>
        <p:nvSpPr>
          <p:cNvPr id="27" name="Text 21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CAPACITY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JSAN combines GIS operations, field capacity and recruitment depth to support multi-region utility programs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 and staffing figures below are reproduced from the supplied source deck.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627632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7FBFD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64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6A9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200+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157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A2733"/>
                </a:solidFill>
              </a:rPr>
              <a:t>CAD / GIS engineers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731520" y="2459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Offshore / onshore GIS production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3337560" y="1627632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02152" y="1764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502152" y="2157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A2733"/>
                </a:solidFill>
              </a:rPr>
              <a:t>GIS managers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3502152" y="2459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Operational and quality leadership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6108192" y="1627632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7FBFD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784" y="1764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1,000+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72784" y="2157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A2733"/>
                </a:solidFill>
              </a:rPr>
              <a:t>Field experts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6272784" y="2459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Field collection capacity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8878824" y="1627632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43416" y="1764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70+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043416" y="2157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A2733"/>
                </a:solidFill>
              </a:rPr>
              <a:t>Recruiters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9043416" y="2459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Dedicated recruitment engine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502920" y="2971800"/>
            <a:ext cx="6903720" cy="347472"/>
          </a:xfrm>
          <a:prstGeom prst="roundRect">
            <a:avLst>
              <a:gd name="adj" fmla="val 15789"/>
            </a:avLst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035808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Capability stack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66928" y="3456432"/>
            <a:ext cx="384048" cy="38404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40" y="3544763"/>
            <a:ext cx="192024" cy="19202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69848" y="3438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33"/>
                </a:solidFill>
              </a:rPr>
              <a:t>Utility GIS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69848" y="36667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E7D8A"/>
                </a:solidFill>
              </a:rPr>
              <a:t>Telecom, electrical &amp; water networks</a:t>
            </a:r>
            <a:endParaRPr lang="en-US" sz="760" dirty="0"/>
          </a:p>
        </p:txBody>
      </p:sp>
      <p:sp>
        <p:nvSpPr>
          <p:cNvPr id="28" name="Shape 24"/>
          <p:cNvSpPr/>
          <p:nvPr/>
        </p:nvSpPr>
        <p:spPr>
          <a:xfrm>
            <a:off x="3950208" y="3456432"/>
            <a:ext cx="384048" cy="38404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6220" y="3544763"/>
            <a:ext cx="192024" cy="19202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453128" y="3438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33"/>
                </a:solidFill>
              </a:rPr>
              <a:t>Asset mapping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453128" y="36667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E7D8A"/>
                </a:solidFill>
              </a:rPr>
              <a:t>Asset mapping &amp; topology validation</a:t>
            </a:r>
            <a:endParaRPr lang="en-US" sz="760" dirty="0"/>
          </a:p>
        </p:txBody>
      </p:sp>
      <p:sp>
        <p:nvSpPr>
          <p:cNvPr id="32" name="Shape 27"/>
          <p:cNvSpPr/>
          <p:nvPr/>
        </p:nvSpPr>
        <p:spPr>
          <a:xfrm>
            <a:off x="566928" y="4206240"/>
            <a:ext cx="384048" cy="38404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" y="4294571"/>
            <a:ext cx="192024" cy="19202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69848" y="41879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33"/>
                </a:solidFill>
              </a:rPr>
              <a:t>LiDAR &amp; photogrammetry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69848" y="44165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E7D8A"/>
                </a:solidFill>
              </a:rPr>
              <a:t>Processing for field-to-map workflows</a:t>
            </a:r>
            <a:endParaRPr lang="en-US" sz="760" dirty="0"/>
          </a:p>
        </p:txBody>
      </p:sp>
      <p:sp>
        <p:nvSpPr>
          <p:cNvPr id="36" name="Shape 30"/>
          <p:cNvSpPr/>
          <p:nvPr/>
        </p:nvSpPr>
        <p:spPr>
          <a:xfrm>
            <a:off x="3950208" y="4206240"/>
            <a:ext cx="384048" cy="38404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46220" y="4294571"/>
            <a:ext cx="192024" cy="19202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453128" y="41879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33"/>
                </a:solidFill>
              </a:rPr>
              <a:t>Enterprise GIS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453128" y="44165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E7D8A"/>
                </a:solidFill>
              </a:rPr>
              <a:t>Spatial databases and system upgrades</a:t>
            </a:r>
            <a:endParaRPr lang="en-US" sz="760" dirty="0"/>
          </a:p>
        </p:txBody>
      </p:sp>
      <p:sp>
        <p:nvSpPr>
          <p:cNvPr id="40" name="Shape 33"/>
          <p:cNvSpPr/>
          <p:nvPr/>
        </p:nvSpPr>
        <p:spPr>
          <a:xfrm>
            <a:off x="566928" y="4956048"/>
            <a:ext cx="384048" cy="38404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940" y="5044379"/>
            <a:ext cx="192024" cy="19202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69848" y="4937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33"/>
                </a:solidFill>
              </a:rPr>
              <a:t>Applications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069848" y="51663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E7D8A"/>
                </a:solidFill>
              </a:rPr>
              <a:t>Development, implementation &amp; training</a:t>
            </a:r>
            <a:endParaRPr lang="en-US" sz="760" dirty="0"/>
          </a:p>
        </p:txBody>
      </p:sp>
      <p:sp>
        <p:nvSpPr>
          <p:cNvPr id="44" name="Shape 36"/>
          <p:cNvSpPr/>
          <p:nvPr/>
        </p:nvSpPr>
        <p:spPr>
          <a:xfrm>
            <a:off x="3950208" y="4956048"/>
            <a:ext cx="384048" cy="38404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46220" y="5044379"/>
            <a:ext cx="192024" cy="19202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453128" y="4937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33"/>
                </a:solidFill>
              </a:rPr>
              <a:t>Testing &amp; support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4453128" y="51663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E7D8A"/>
                </a:solidFill>
              </a:rPr>
              <a:t>Testing, maintenance and ongoing support</a:t>
            </a:r>
            <a:endParaRPr lang="en-US" sz="760" dirty="0"/>
          </a:p>
        </p:txBody>
      </p:sp>
      <p:sp>
        <p:nvSpPr>
          <p:cNvPr id="48" name="Shape 39"/>
          <p:cNvSpPr/>
          <p:nvPr/>
        </p:nvSpPr>
        <p:spPr>
          <a:xfrm>
            <a:off x="7616952" y="297180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7754112" y="30358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Mobilization engine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7616952" y="3438144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BFD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5000000000000000000"/>
              </a:srgbClr>
            </a:outerShdw>
          </a:effectLst>
        </p:spPr>
      </p:sp>
      <p:sp>
        <p:nvSpPr>
          <p:cNvPr id="51" name="Text 42"/>
          <p:cNvSpPr/>
          <p:nvPr/>
        </p:nvSpPr>
        <p:spPr>
          <a:xfrm>
            <a:off x="7863840" y="3657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Dedicated recruitment team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7863840" y="402336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554"/>
                </a:solidFill>
              </a:rPr>
              <a:t>70+ recruiters with stated experience hiring GIS resources across geographies.</a:t>
            </a:r>
            <a:endParaRPr lang="en-US" sz="870" dirty="0"/>
          </a:p>
        </p:txBody>
      </p:sp>
      <p:sp>
        <p:nvSpPr>
          <p:cNvPr id="53" name="Shape 44"/>
          <p:cNvSpPr/>
          <p:nvPr/>
        </p:nvSpPr>
        <p:spPr>
          <a:xfrm>
            <a:off x="7882128" y="4681728"/>
            <a:ext cx="2743200" cy="0"/>
          </a:xfrm>
          <a:prstGeom prst="line">
            <a:avLst/>
          </a:prstGeom>
          <a:noFill/>
          <a:ln w="12700">
            <a:solidFill>
              <a:srgbClr val="CFE2EA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7863840" y="4800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6A9E"/>
                </a:solidFill>
              </a:rPr>
              <a:t>Stated onboarding capability</a:t>
            </a:r>
            <a:endParaRPr lang="en-US" sz="820" dirty="0"/>
          </a:p>
        </p:txBody>
      </p:sp>
      <p:sp>
        <p:nvSpPr>
          <p:cNvPr id="55" name="Text 46"/>
          <p:cNvSpPr/>
          <p:nvPr/>
        </p:nvSpPr>
        <p:spPr>
          <a:xfrm>
            <a:off x="7863840" y="50657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33"/>
                </a:solidFill>
              </a:rPr>
              <a:t>100+ resources within weeks</a:t>
            </a:r>
            <a:endParaRPr lang="en-US" sz="1400" dirty="0"/>
          </a:p>
        </p:txBody>
      </p:sp>
      <p:sp>
        <p:nvSpPr>
          <p:cNvPr id="56" name="Text 47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READINESS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readiness is the first control point: network drawings, asset inventory, consumer records and GIS rules must be aligned before field mobilization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deck defines a concrete input checklist and common consumer information required across all three utility domains.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27632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5e+24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33"/>
                </a:solidFill>
              </a:rPr>
              <a:t>Client inputs required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" y="2286000"/>
            <a:ext cx="329184" cy="329184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04" y="236171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951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Network drawings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2423160" y="22951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8A"/>
                </a:solidFill>
              </a:rPr>
              <a:t>Existing CAD / PDF network drawings</a:t>
            </a:r>
            <a:endParaRPr lang="en-US" sz="770" dirty="0"/>
          </a:p>
        </p:txBody>
      </p:sp>
      <p:sp>
        <p:nvSpPr>
          <p:cNvPr id="12" name="Shape 8"/>
          <p:cNvSpPr/>
          <p:nvPr/>
        </p:nvSpPr>
        <p:spPr>
          <a:xfrm>
            <a:off x="749808" y="2825496"/>
            <a:ext cx="329184" cy="329184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104" y="2901208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8346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Asset inventory</a:t>
            </a:r>
            <a:endParaRPr lang="en-US" sz="840" dirty="0"/>
          </a:p>
        </p:txBody>
      </p:sp>
      <p:sp>
        <p:nvSpPr>
          <p:cNvPr id="15" name="Text 10"/>
          <p:cNvSpPr/>
          <p:nvPr/>
        </p:nvSpPr>
        <p:spPr>
          <a:xfrm>
            <a:off x="2423160" y="28346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8A"/>
                </a:solidFill>
              </a:rPr>
              <a:t>Existing asset data and identifiers</a:t>
            </a:r>
            <a:endParaRPr lang="en-US" sz="770" dirty="0"/>
          </a:p>
        </p:txBody>
      </p:sp>
      <p:sp>
        <p:nvSpPr>
          <p:cNvPr id="16" name="Shape 11"/>
          <p:cNvSpPr/>
          <p:nvPr/>
        </p:nvSpPr>
        <p:spPr>
          <a:xfrm>
            <a:off x="749808" y="3364992"/>
            <a:ext cx="329184" cy="329184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04" y="344070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3741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Consumer database</a:t>
            </a:r>
            <a:endParaRPr lang="en-US" sz="840" dirty="0"/>
          </a:p>
        </p:txBody>
      </p:sp>
      <p:sp>
        <p:nvSpPr>
          <p:cNvPr id="19" name="Text 13"/>
          <p:cNvSpPr/>
          <p:nvPr/>
        </p:nvSpPr>
        <p:spPr>
          <a:xfrm>
            <a:off x="2423160" y="33741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8A"/>
                </a:solidFill>
              </a:rPr>
              <a:t>Consumer and service-connection records</a:t>
            </a:r>
            <a:endParaRPr lang="en-US" sz="770" dirty="0"/>
          </a:p>
        </p:txBody>
      </p:sp>
      <p:sp>
        <p:nvSpPr>
          <p:cNvPr id="20" name="Shape 14"/>
          <p:cNvSpPr/>
          <p:nvPr/>
        </p:nvSpPr>
        <p:spPr>
          <a:xfrm>
            <a:off x="749808" y="3904488"/>
            <a:ext cx="329184" cy="329184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104" y="3980200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39136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Base maps</a:t>
            </a:r>
            <a:endParaRPr lang="en-US" sz="840" dirty="0"/>
          </a:p>
        </p:txBody>
      </p:sp>
      <p:sp>
        <p:nvSpPr>
          <p:cNvPr id="23" name="Text 16"/>
          <p:cNvSpPr/>
          <p:nvPr/>
        </p:nvSpPr>
        <p:spPr>
          <a:xfrm>
            <a:off x="2423160" y="39136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8A"/>
                </a:solidFill>
              </a:rPr>
              <a:t>Base maps and satellite imagery</a:t>
            </a:r>
            <a:endParaRPr lang="en-US" sz="770" dirty="0"/>
          </a:p>
        </p:txBody>
      </p:sp>
      <p:sp>
        <p:nvSpPr>
          <p:cNvPr id="24" name="Shape 17"/>
          <p:cNvSpPr/>
          <p:nvPr/>
        </p:nvSpPr>
        <p:spPr>
          <a:xfrm>
            <a:off x="749808" y="4443984"/>
            <a:ext cx="329184" cy="329184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104" y="4519696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44531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GIS standards</a:t>
            </a:r>
            <a:endParaRPr lang="en-US" sz="840" dirty="0"/>
          </a:p>
        </p:txBody>
      </p:sp>
      <p:sp>
        <p:nvSpPr>
          <p:cNvPr id="27" name="Text 19"/>
          <p:cNvSpPr/>
          <p:nvPr/>
        </p:nvSpPr>
        <p:spPr>
          <a:xfrm>
            <a:off x="2423160" y="44531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8A"/>
                </a:solidFill>
              </a:rPr>
              <a:t>Data model, coding, connectivity and topology rules</a:t>
            </a:r>
            <a:endParaRPr lang="en-US" sz="770" dirty="0"/>
          </a:p>
        </p:txBody>
      </p:sp>
      <p:sp>
        <p:nvSpPr>
          <p:cNvPr id="28" name="Shape 20"/>
          <p:cNvSpPr/>
          <p:nvPr/>
        </p:nvSpPr>
        <p:spPr>
          <a:xfrm>
            <a:off x="749808" y="4983480"/>
            <a:ext cx="329184" cy="329184"/>
          </a:xfrm>
          <a:prstGeom prst="ellipse">
            <a:avLst/>
          </a:prstGeom>
          <a:solidFill>
            <a:srgbClr val="EEF6FA"/>
          </a:solidFill>
          <a:ln w="12700">
            <a:solidFill>
              <a:srgbClr val="EEF6FA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2104" y="5059192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88720" y="49926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Field access</a:t>
            </a:r>
            <a:endParaRPr lang="en-US" sz="840" dirty="0"/>
          </a:p>
        </p:txBody>
      </p:sp>
      <p:sp>
        <p:nvSpPr>
          <p:cNvPr id="31" name="Text 22"/>
          <p:cNvSpPr/>
          <p:nvPr/>
        </p:nvSpPr>
        <p:spPr>
          <a:xfrm>
            <a:off x="2423160" y="499262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8A"/>
                </a:solidFill>
              </a:rPr>
              <a:t>Survey requirements, field permissions and target GIS platform</a:t>
            </a:r>
            <a:endParaRPr lang="en-US" sz="770" dirty="0"/>
          </a:p>
        </p:txBody>
      </p:sp>
      <p:sp>
        <p:nvSpPr>
          <p:cNvPr id="32" name="Shape 23"/>
          <p:cNvSpPr/>
          <p:nvPr/>
        </p:nvSpPr>
        <p:spPr>
          <a:xfrm>
            <a:off x="6217920" y="1627632"/>
            <a:ext cx="5056632" cy="4343400"/>
          </a:xfrm>
          <a:prstGeom prst="roundRect">
            <a:avLst>
              <a:gd name="adj" fmla="val 1684"/>
            </a:avLst>
          </a:prstGeom>
          <a:solidFill>
            <a:srgbClr val="F4F8FB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5e+29"/>
              </a:srgbClr>
            </a:outerShdw>
          </a:effectLst>
        </p:spPr>
      </p:sp>
      <p:sp>
        <p:nvSpPr>
          <p:cNvPr id="33" name="Text 24"/>
          <p:cNvSpPr/>
          <p:nvPr/>
        </p:nvSpPr>
        <p:spPr>
          <a:xfrm>
            <a:off x="6446520" y="18470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33"/>
                </a:solidFill>
              </a:rPr>
              <a:t>Common consumer information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6446520" y="2167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E7D8A"/>
                </a:solidFill>
              </a:rPr>
              <a:t>Required for electrical, water and gas utility workflows</a:t>
            </a:r>
            <a:endParaRPr lang="en-US" sz="820" dirty="0"/>
          </a:p>
        </p:txBody>
      </p:sp>
      <p:sp>
        <p:nvSpPr>
          <p:cNvPr id="35" name="Shape 26"/>
          <p:cNvSpPr/>
          <p:nvPr/>
        </p:nvSpPr>
        <p:spPr>
          <a:xfrm>
            <a:off x="6446520" y="2624328"/>
            <a:ext cx="1965960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6583680" y="2715768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44554"/>
                </a:solidFill>
              </a:rPr>
              <a:t>Consumer ID</a:t>
            </a:r>
            <a:endParaRPr lang="en-US" sz="780" dirty="0"/>
          </a:p>
        </p:txBody>
      </p:sp>
      <p:sp>
        <p:nvSpPr>
          <p:cNvPr id="37" name="Shape 28"/>
          <p:cNvSpPr/>
          <p:nvPr/>
        </p:nvSpPr>
        <p:spPr>
          <a:xfrm>
            <a:off x="6446520" y="3145536"/>
            <a:ext cx="1965960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83680" y="3236976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44554"/>
                </a:solidFill>
              </a:rPr>
              <a:t>Consumer name</a:t>
            </a:r>
            <a:endParaRPr lang="en-US" sz="780" dirty="0"/>
          </a:p>
        </p:txBody>
      </p:sp>
      <p:sp>
        <p:nvSpPr>
          <p:cNvPr id="39" name="Shape 30"/>
          <p:cNvSpPr/>
          <p:nvPr/>
        </p:nvSpPr>
        <p:spPr>
          <a:xfrm>
            <a:off x="6446520" y="3666744"/>
            <a:ext cx="1965960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6583680" y="375818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44554"/>
                </a:solidFill>
              </a:rPr>
              <a:t>Address</a:t>
            </a:r>
            <a:endParaRPr lang="en-US" sz="780" dirty="0"/>
          </a:p>
        </p:txBody>
      </p:sp>
      <p:sp>
        <p:nvSpPr>
          <p:cNvPr id="41" name="Shape 32"/>
          <p:cNvSpPr/>
          <p:nvPr/>
        </p:nvSpPr>
        <p:spPr>
          <a:xfrm>
            <a:off x="6446520" y="4187952"/>
            <a:ext cx="1965960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6583680" y="4279392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44554"/>
                </a:solidFill>
              </a:rPr>
              <a:t>Account number</a:t>
            </a:r>
            <a:endParaRPr lang="en-US" sz="780" dirty="0"/>
          </a:p>
        </p:txBody>
      </p:sp>
      <p:sp>
        <p:nvSpPr>
          <p:cNvPr id="43" name="Shape 34"/>
          <p:cNvSpPr/>
          <p:nvPr/>
        </p:nvSpPr>
        <p:spPr>
          <a:xfrm>
            <a:off x="8714232" y="2624328"/>
            <a:ext cx="1965960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8851392" y="2715768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44554"/>
                </a:solidFill>
              </a:rPr>
              <a:t>Meter number</a:t>
            </a:r>
            <a:endParaRPr lang="en-US" sz="780" dirty="0"/>
          </a:p>
        </p:txBody>
      </p:sp>
      <p:sp>
        <p:nvSpPr>
          <p:cNvPr id="45" name="Shape 36"/>
          <p:cNvSpPr/>
          <p:nvPr/>
        </p:nvSpPr>
        <p:spPr>
          <a:xfrm>
            <a:off x="8714232" y="3145536"/>
            <a:ext cx="1965960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851392" y="3236976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44554"/>
                </a:solidFill>
              </a:rPr>
              <a:t>Tariff category</a:t>
            </a:r>
            <a:endParaRPr lang="en-US" sz="780" dirty="0"/>
          </a:p>
        </p:txBody>
      </p:sp>
      <p:sp>
        <p:nvSpPr>
          <p:cNvPr id="47" name="Shape 38"/>
          <p:cNvSpPr/>
          <p:nvPr/>
        </p:nvSpPr>
        <p:spPr>
          <a:xfrm>
            <a:off x="8714232" y="3666744"/>
            <a:ext cx="1965960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8851392" y="375818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44554"/>
                </a:solidFill>
              </a:rPr>
              <a:t>Billing data</a:t>
            </a:r>
            <a:endParaRPr lang="en-US" sz="780" dirty="0"/>
          </a:p>
        </p:txBody>
      </p:sp>
      <p:sp>
        <p:nvSpPr>
          <p:cNvPr id="49" name="Shape 40"/>
          <p:cNvSpPr/>
          <p:nvPr/>
        </p:nvSpPr>
        <p:spPr>
          <a:xfrm>
            <a:off x="8714232" y="4187952"/>
            <a:ext cx="1965960" cy="35661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8851392" y="4279392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44554"/>
                </a:solidFill>
              </a:rPr>
              <a:t>Service connection details</a:t>
            </a:r>
            <a:endParaRPr lang="en-US" sz="780" dirty="0"/>
          </a:p>
        </p:txBody>
      </p:sp>
      <p:sp>
        <p:nvSpPr>
          <p:cNvPr id="51" name="Shape 42"/>
          <p:cNvSpPr/>
          <p:nvPr/>
        </p:nvSpPr>
        <p:spPr>
          <a:xfrm>
            <a:off x="6446520" y="4919472"/>
            <a:ext cx="4334256" cy="667512"/>
          </a:xfrm>
          <a:prstGeom prst="roundRect">
            <a:avLst>
              <a:gd name="adj" fmla="val 5479"/>
            </a:avLst>
          </a:prstGeom>
          <a:solidFill>
            <a:srgbClr val="E6F2F7"/>
          </a:solidFill>
          <a:ln w="12700">
            <a:solidFill>
              <a:srgbClr val="C8E0EA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6611112" y="50749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A9E"/>
                </a:solidFill>
              </a:rPr>
              <a:t>Utility department standards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8046720" y="5001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B2033"/>
                </a:solidFill>
              </a:rPr>
              <a:t>GIS schema • attributes • coding • naming • connectivity • topology</a:t>
            </a:r>
            <a:endParaRPr lang="en-US" sz="820" dirty="0"/>
          </a:p>
        </p:txBody>
      </p:sp>
      <p:sp>
        <p:nvSpPr>
          <p:cNvPr id="54" name="Text 45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six-stage field-to-platform operating model converts physical assets into governed GIS records and decision-ready network maps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backbone applies across utilities; domain-specific rules are configured within capture, validation and data-model steps.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47088"/>
            <a:ext cx="1591056" cy="3063240"/>
          </a:xfrm>
          <a:prstGeom prst="roundRect">
            <a:avLst>
              <a:gd name="adj" fmla="val 4598"/>
            </a:avLst>
          </a:prstGeom>
          <a:solidFill>
            <a:srgbClr val="F8FBFD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4999999999999999e+34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42416" y="2148840"/>
            <a:ext cx="603504" cy="603504"/>
          </a:xfrm>
          <a:prstGeom prst="ellipse">
            <a:avLst/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3292" y="2287646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" y="2944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A9E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960120" y="292608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Prepare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13232" y="3401568"/>
            <a:ext cx="12618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44554"/>
                </a:solidFill>
              </a:rPr>
              <a:t>Base maps, satellite imagery, source drawings and survey plans</a:t>
            </a:r>
            <a:endParaRPr lang="en-US" sz="810" dirty="0"/>
          </a:p>
        </p:txBody>
      </p:sp>
      <p:sp>
        <p:nvSpPr>
          <p:cNvPr id="12" name="Shape 8"/>
          <p:cNvSpPr/>
          <p:nvPr/>
        </p:nvSpPr>
        <p:spPr>
          <a:xfrm>
            <a:off x="2185416" y="2852928"/>
            <a:ext cx="256032" cy="438912"/>
          </a:xfrm>
          <a:prstGeom prst="chevron">
            <a:avLst/>
          </a:prstGeom>
          <a:solidFill>
            <a:srgbClr val="BFDCE8"/>
          </a:solidFill>
          <a:ln w="12700">
            <a:solidFill>
              <a:srgbClr val="BFDC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04872" y="1847088"/>
            <a:ext cx="1591056" cy="30632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5e+39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898648" y="2148840"/>
            <a:ext cx="603504" cy="603504"/>
          </a:xfrm>
          <a:prstGeom prst="ellipse">
            <a:avLst/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9524" y="2287646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51176" y="2944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A9E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2816352" y="292608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Capture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569464" y="3401568"/>
            <a:ext cx="12618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44554"/>
                </a:solidFill>
              </a:rPr>
              <a:t>GPS / mobile / drone-enabled asset and consumer evidence</a:t>
            </a:r>
            <a:endParaRPr lang="en-US" sz="810" dirty="0"/>
          </a:p>
        </p:txBody>
      </p:sp>
      <p:sp>
        <p:nvSpPr>
          <p:cNvPr id="19" name="Shape 14"/>
          <p:cNvSpPr/>
          <p:nvPr/>
        </p:nvSpPr>
        <p:spPr>
          <a:xfrm>
            <a:off x="4041648" y="2852928"/>
            <a:ext cx="256032" cy="438912"/>
          </a:xfrm>
          <a:prstGeom prst="chevron">
            <a:avLst/>
          </a:prstGeom>
          <a:solidFill>
            <a:srgbClr val="BFDCE8"/>
          </a:solidFill>
          <a:ln w="12700">
            <a:solidFill>
              <a:srgbClr val="BFDC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261104" y="1847088"/>
            <a:ext cx="1591056" cy="3063240"/>
          </a:xfrm>
          <a:prstGeom prst="roundRect">
            <a:avLst>
              <a:gd name="adj" fmla="val 4598"/>
            </a:avLst>
          </a:prstGeom>
          <a:solidFill>
            <a:srgbClr val="F8FBFD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5e+44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148840"/>
            <a:ext cx="603504" cy="603504"/>
          </a:xfrm>
          <a:prstGeom prst="ellipse">
            <a:avLst/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5756" y="2287646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407408" y="2944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A9E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672584" y="292608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Validate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425696" y="3401568"/>
            <a:ext cx="12618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44554"/>
                </a:solidFill>
              </a:rPr>
              <a:t>Spatial, attribute, photo and field-completeness checks</a:t>
            </a:r>
            <a:endParaRPr lang="en-US" sz="810" dirty="0"/>
          </a:p>
        </p:txBody>
      </p:sp>
      <p:sp>
        <p:nvSpPr>
          <p:cNvPr id="26" name="Shape 20"/>
          <p:cNvSpPr/>
          <p:nvPr/>
        </p:nvSpPr>
        <p:spPr>
          <a:xfrm>
            <a:off x="5897880" y="2852928"/>
            <a:ext cx="256032" cy="438912"/>
          </a:xfrm>
          <a:prstGeom prst="chevron">
            <a:avLst/>
          </a:prstGeom>
          <a:solidFill>
            <a:srgbClr val="BFDCE8"/>
          </a:solidFill>
          <a:ln w="12700">
            <a:solidFill>
              <a:srgbClr val="BFDCE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17336" y="1847088"/>
            <a:ext cx="1591056" cy="30632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4999999999999999e+49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611112" y="2148840"/>
            <a:ext cx="603504" cy="603504"/>
          </a:xfrm>
          <a:prstGeom prst="ellipse">
            <a:avLst/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1988" y="2287646"/>
            <a:ext cx="301752" cy="3017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263640" y="2944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A9E"/>
                </a:solidFill>
              </a:rPr>
              <a:t>4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6528816" y="292608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Model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281928" y="3401568"/>
            <a:ext cx="12618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44554"/>
                </a:solidFill>
              </a:rPr>
              <a:t>Network connectivity, asset hierarchy and topology rules</a:t>
            </a:r>
            <a:endParaRPr lang="en-US" sz="810" dirty="0"/>
          </a:p>
        </p:txBody>
      </p:sp>
      <p:sp>
        <p:nvSpPr>
          <p:cNvPr id="33" name="Shape 26"/>
          <p:cNvSpPr/>
          <p:nvPr/>
        </p:nvSpPr>
        <p:spPr>
          <a:xfrm>
            <a:off x="7754112" y="2852928"/>
            <a:ext cx="256032" cy="438912"/>
          </a:xfrm>
          <a:prstGeom prst="chevron">
            <a:avLst/>
          </a:prstGeom>
          <a:solidFill>
            <a:srgbClr val="BFDCE8"/>
          </a:solidFill>
          <a:ln w="12700">
            <a:solidFill>
              <a:srgbClr val="BFDCE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973568" y="1847088"/>
            <a:ext cx="1591056" cy="3063240"/>
          </a:xfrm>
          <a:prstGeom prst="roundRect">
            <a:avLst>
              <a:gd name="adj" fmla="val 4598"/>
            </a:avLst>
          </a:prstGeom>
          <a:solidFill>
            <a:srgbClr val="F8FBFD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4999999999999998e+54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67344" y="2148840"/>
            <a:ext cx="603504" cy="603504"/>
          </a:xfrm>
          <a:prstGeom prst="ellipse">
            <a:avLst/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18220" y="2287646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119872" y="2944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A9E"/>
                </a:solidFill>
              </a:rPr>
              <a:t>5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8385048" y="292608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Integrate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138160" y="3401568"/>
            <a:ext cx="12618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44554"/>
                </a:solidFill>
              </a:rPr>
              <a:t>Prepare GDB and migrate to target GIS platform</a:t>
            </a:r>
            <a:endParaRPr lang="en-US" sz="810" dirty="0"/>
          </a:p>
        </p:txBody>
      </p:sp>
      <p:sp>
        <p:nvSpPr>
          <p:cNvPr id="40" name="Shape 32"/>
          <p:cNvSpPr/>
          <p:nvPr/>
        </p:nvSpPr>
        <p:spPr>
          <a:xfrm>
            <a:off x="9610344" y="2852928"/>
            <a:ext cx="256032" cy="438912"/>
          </a:xfrm>
          <a:prstGeom prst="chevron">
            <a:avLst/>
          </a:prstGeom>
          <a:solidFill>
            <a:srgbClr val="BFDCE8"/>
          </a:solidFill>
          <a:ln w="12700">
            <a:solidFill>
              <a:srgbClr val="BFDCE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829800" y="1847088"/>
            <a:ext cx="1591056" cy="30632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4999999999999998e+59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10323576" y="2148840"/>
            <a:ext cx="603504" cy="603504"/>
          </a:xfrm>
          <a:prstGeom prst="ellipse">
            <a:avLst/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74452" y="2287646"/>
            <a:ext cx="301752" cy="30175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976104" y="2944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A9E"/>
                </a:solidFill>
              </a:rPr>
              <a:t>6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10241280" y="292608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Operate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9994392" y="3401568"/>
            <a:ext cx="12618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44554"/>
                </a:solidFill>
              </a:rPr>
              <a:t>Maps, dashboards, maintenance and decision support</a:t>
            </a:r>
            <a:endParaRPr lang="en-US" sz="810" dirty="0"/>
          </a:p>
        </p:txBody>
      </p:sp>
      <p:sp>
        <p:nvSpPr>
          <p:cNvPr id="47" name="Shape 38"/>
          <p:cNvSpPr/>
          <p:nvPr/>
        </p:nvSpPr>
        <p:spPr>
          <a:xfrm>
            <a:off x="658368" y="5193792"/>
            <a:ext cx="10552176" cy="640080"/>
          </a:xfrm>
          <a:prstGeom prst="roundRect">
            <a:avLst>
              <a:gd name="adj" fmla="val 5714"/>
            </a:avLst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850392" y="53949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D3EB"/>
                </a:solidFill>
              </a:rPr>
              <a:t>Design principle</a:t>
            </a:r>
            <a:endParaRPr lang="en-US" sz="800" dirty="0"/>
          </a:p>
        </p:txBody>
      </p:sp>
      <p:sp>
        <p:nvSpPr>
          <p:cNvPr id="49" name="Text 40"/>
          <p:cNvSpPr/>
          <p:nvPr/>
        </p:nvSpPr>
        <p:spPr>
          <a:xfrm>
            <a:off x="2057400" y="5294376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Every asset record should be traceable back to field evidence, a defined data model and an explicit QA decision.</a:t>
            </a:r>
            <a:endParaRPr lang="en-US" sz="1120" dirty="0"/>
          </a:p>
        </p:txBody>
      </p:sp>
      <p:sp>
        <p:nvSpPr>
          <p:cNvPr id="50" name="Text 41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UTILITY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Electrical digitization links land-base extraction, pole-to-pole survey and topology QA before enterprise GIS migration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workflow moves from base-map preparation through field survey, GDB creation and final customer approval.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" y="1901952"/>
            <a:ext cx="347472" cy="347472"/>
          </a:xfrm>
          <a:prstGeom prst="ellipse">
            <a:avLst/>
          </a:prstGeom>
          <a:solidFill>
            <a:srgbClr val="1D7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530352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Land base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502920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Satellite image extraction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1161288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892808" y="1901952"/>
            <a:ext cx="347472" cy="347472"/>
          </a:xfrm>
          <a:prstGeom prst="ellipse">
            <a:avLst/>
          </a:prstGeom>
          <a:solidFill>
            <a:srgbClr val="1D7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92808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618488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Field survey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1591056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Drone / mobile app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249424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980944" y="1901952"/>
            <a:ext cx="347472" cy="347472"/>
          </a:xfrm>
          <a:prstGeom prst="ellipse">
            <a:avLst/>
          </a:prstGeom>
          <a:solidFill>
            <a:srgbClr val="1D7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80944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2706624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Asset drawing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2679192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Pole-to-pole network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337560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069080" y="1901952"/>
            <a:ext cx="347472" cy="347472"/>
          </a:xfrm>
          <a:prstGeom prst="ellipse">
            <a:avLst/>
          </a:prstGeom>
          <a:solidFill>
            <a:srgbClr val="1D7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9080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3794760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Codification</a:t>
            </a:r>
            <a:endParaRPr lang="en-US" sz="760" dirty="0"/>
          </a:p>
        </p:txBody>
      </p:sp>
      <p:sp>
        <p:nvSpPr>
          <p:cNvPr id="24" name="Text 21"/>
          <p:cNvSpPr/>
          <p:nvPr/>
        </p:nvSpPr>
        <p:spPr>
          <a:xfrm>
            <a:off x="3767328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Pole number standards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4425696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157216" y="1901952"/>
            <a:ext cx="347472" cy="347472"/>
          </a:xfrm>
          <a:prstGeom prst="ellipse">
            <a:avLst/>
          </a:prstGeom>
          <a:solidFill>
            <a:srgbClr val="006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57216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4882896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QA/QC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4855464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Spatial + attribute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5513832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245352" y="1901952"/>
            <a:ext cx="347472" cy="347472"/>
          </a:xfrm>
          <a:prstGeom prst="ellipse">
            <a:avLst/>
          </a:prstGeom>
          <a:solidFill>
            <a:srgbClr val="006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45352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6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5971032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GDB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5943600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Model preparation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6601968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333488" y="1901952"/>
            <a:ext cx="347472" cy="347472"/>
          </a:xfrm>
          <a:prstGeom prst="ellipse">
            <a:avLst/>
          </a:prstGeom>
          <a:solidFill>
            <a:srgbClr val="006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33488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7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7059168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Field verify</a:t>
            </a:r>
            <a:endParaRPr lang="en-US" sz="760" dirty="0"/>
          </a:p>
        </p:txBody>
      </p:sp>
      <p:sp>
        <p:nvSpPr>
          <p:cNvPr id="39" name="Text 36"/>
          <p:cNvSpPr/>
          <p:nvPr/>
        </p:nvSpPr>
        <p:spPr>
          <a:xfrm>
            <a:off x="7031736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Base-map validation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7690104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8421624" y="1901952"/>
            <a:ext cx="347472" cy="347472"/>
          </a:xfrm>
          <a:prstGeom prst="ellipse">
            <a:avLst/>
          </a:prstGeom>
          <a:solidFill>
            <a:srgbClr val="006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21624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8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8147304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Correct</a:t>
            </a:r>
            <a:endParaRPr lang="en-US" sz="760" dirty="0"/>
          </a:p>
        </p:txBody>
      </p:sp>
      <p:sp>
        <p:nvSpPr>
          <p:cNvPr id="44" name="Text 41"/>
          <p:cNvSpPr/>
          <p:nvPr/>
        </p:nvSpPr>
        <p:spPr>
          <a:xfrm>
            <a:off x="8119872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Post-field updates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8778240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9509760" y="1901952"/>
            <a:ext cx="347472" cy="347472"/>
          </a:xfrm>
          <a:prstGeom prst="ellipse">
            <a:avLst/>
          </a:prstGeom>
          <a:solidFill>
            <a:srgbClr val="0B20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509760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9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9235440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Approve</a:t>
            </a:r>
            <a:endParaRPr lang="en-US" sz="760" dirty="0"/>
          </a:p>
        </p:txBody>
      </p:sp>
      <p:sp>
        <p:nvSpPr>
          <p:cNvPr id="49" name="Text 46"/>
          <p:cNvSpPr/>
          <p:nvPr/>
        </p:nvSpPr>
        <p:spPr>
          <a:xfrm>
            <a:off x="9208008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Final network map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9866376" y="2075688"/>
            <a:ext cx="722376" cy="0"/>
          </a:xfrm>
          <a:prstGeom prst="line">
            <a:avLst/>
          </a:prstGeom>
          <a:noFill/>
          <a:ln w="25400">
            <a:solidFill>
              <a:srgbClr val="AFCEDC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10597896" y="1901952"/>
            <a:ext cx="347472" cy="347472"/>
          </a:xfrm>
          <a:prstGeom prst="ellipse">
            <a:avLst/>
          </a:prstGeom>
          <a:solidFill>
            <a:srgbClr val="0B20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597896" y="19751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10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10323576" y="23774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A2733"/>
                </a:solidFill>
              </a:rPr>
              <a:t>Migrate</a:t>
            </a:r>
            <a:endParaRPr lang="en-US" sz="760" dirty="0"/>
          </a:p>
        </p:txBody>
      </p:sp>
      <p:sp>
        <p:nvSpPr>
          <p:cNvPr id="54" name="Text 51"/>
          <p:cNvSpPr/>
          <p:nvPr/>
        </p:nvSpPr>
        <p:spPr>
          <a:xfrm>
            <a:off x="10296144" y="2615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7D8A"/>
                </a:solidFill>
              </a:rPr>
              <a:t>Smallworld / ArcGIS</a:t>
            </a:r>
            <a:endParaRPr lang="en-US" sz="650" dirty="0"/>
          </a:p>
        </p:txBody>
      </p:sp>
      <p:sp>
        <p:nvSpPr>
          <p:cNvPr id="55" name="Shape 52"/>
          <p:cNvSpPr/>
          <p:nvPr/>
        </p:nvSpPr>
        <p:spPr>
          <a:xfrm>
            <a:off x="594360" y="352044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F8FBFD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4999999999999998e+64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822960" y="3730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33"/>
                </a:solidFill>
              </a:rPr>
              <a:t>Field evidence</a:t>
            </a:r>
            <a:endParaRPr lang="en-US" sz="1000" dirty="0"/>
          </a:p>
        </p:txBody>
      </p:sp>
      <p:pic>
        <p:nvPicPr>
          <p:cNvPr id="57" name="Image 1" descr="/mnt/data/srcppt/ppt/media/image18.jpeg">    </p:cNvPr>
          <p:cNvPicPr>
            <a:picLocks noChangeAspect="1"/>
          </p:cNvPicPr>
          <p:nvPr/>
        </p:nvPicPr>
        <p:blipFill>
          <a:blip r:embed="rId2"/>
          <a:srcRect l="0" r="0" t="12500" b="12500"/>
          <a:stretch/>
        </p:blipFill>
        <p:spPr>
          <a:xfrm>
            <a:off x="822960" y="4096512"/>
            <a:ext cx="1325880" cy="1325880"/>
          </a:xfrm>
          <a:prstGeom prst="rect">
            <a:avLst/>
          </a:prstGeom>
        </p:spPr>
      </p:pic>
      <p:pic>
        <p:nvPicPr>
          <p:cNvPr id="58" name="Image 2" descr="/mnt/data/srcppt/ppt/media/image2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4" y="4472940"/>
            <a:ext cx="658368" cy="609600"/>
          </a:xfrm>
          <a:prstGeom prst="rect">
            <a:avLst/>
          </a:prstGeom>
        </p:spPr>
      </p:pic>
      <p:pic>
        <p:nvPicPr>
          <p:cNvPr id="59" name="Image 3" descr="/mnt/data/srcppt/ppt/media/image2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4045001"/>
            <a:ext cx="658368" cy="1465478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822960" y="553212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On-ground survey + structured mobile capture</a:t>
            </a:r>
            <a:endParaRPr lang="en-US" sz="720" dirty="0"/>
          </a:p>
        </p:txBody>
      </p:sp>
      <p:sp>
        <p:nvSpPr>
          <p:cNvPr id="61" name="Shape 55"/>
          <p:cNvSpPr/>
          <p:nvPr/>
        </p:nvSpPr>
        <p:spPr>
          <a:xfrm>
            <a:off x="4617720" y="3520440"/>
            <a:ext cx="6629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4999999999999997e+69"/>
              </a:srgbClr>
            </a:outerShdw>
          </a:effectLst>
        </p:spPr>
      </p:sp>
      <p:sp>
        <p:nvSpPr>
          <p:cNvPr id="62" name="Text 56"/>
          <p:cNvSpPr/>
          <p:nvPr/>
        </p:nvSpPr>
        <p:spPr>
          <a:xfrm>
            <a:off x="4864608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33"/>
                </a:solidFill>
              </a:rPr>
              <a:t>Control objectives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4864608" y="4133088"/>
            <a:ext cx="347472" cy="347472"/>
          </a:xfrm>
          <a:prstGeom prst="ellipse">
            <a:avLst/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pic>
        <p:nvPicPr>
          <p:cNvPr id="64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1476" y="4213007"/>
            <a:ext cx="173736" cy="173736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5340096" y="4114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A2733"/>
                </a:solidFill>
              </a:rPr>
              <a:t>Spatial accuracy</a:t>
            </a:r>
            <a:endParaRPr lang="en-US" sz="830" dirty="0"/>
          </a:p>
        </p:txBody>
      </p:sp>
      <p:sp>
        <p:nvSpPr>
          <p:cNvPr id="66" name="Text 59"/>
          <p:cNvSpPr/>
          <p:nvPr/>
        </p:nvSpPr>
        <p:spPr>
          <a:xfrm>
            <a:off x="5340096" y="43434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Pole / line location and base-map fit</a:t>
            </a:r>
            <a:endParaRPr lang="en-US" sz="720" dirty="0"/>
          </a:p>
        </p:txBody>
      </p:sp>
      <p:sp>
        <p:nvSpPr>
          <p:cNvPr id="67" name="Shape 60"/>
          <p:cNvSpPr/>
          <p:nvPr/>
        </p:nvSpPr>
        <p:spPr>
          <a:xfrm>
            <a:off x="7836408" y="4133088"/>
            <a:ext cx="347472" cy="347472"/>
          </a:xfrm>
          <a:prstGeom prst="ellipse">
            <a:avLst/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pic>
        <p:nvPicPr>
          <p:cNvPr id="68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3276" y="4213007"/>
            <a:ext cx="173736" cy="173736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8311896" y="4114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A2733"/>
                </a:solidFill>
              </a:rPr>
              <a:t>Attribute quality</a:t>
            </a:r>
            <a:endParaRPr lang="en-US" sz="830" dirty="0"/>
          </a:p>
        </p:txBody>
      </p:sp>
      <p:sp>
        <p:nvSpPr>
          <p:cNvPr id="70" name="Text 62"/>
          <p:cNvSpPr/>
          <p:nvPr/>
        </p:nvSpPr>
        <p:spPr>
          <a:xfrm>
            <a:off x="8311896" y="43434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Asset type, identifier and consumer linkage</a:t>
            </a:r>
            <a:endParaRPr lang="en-US" sz="720" dirty="0"/>
          </a:p>
        </p:txBody>
      </p:sp>
      <p:sp>
        <p:nvSpPr>
          <p:cNvPr id="71" name="Shape 63"/>
          <p:cNvSpPr/>
          <p:nvPr/>
        </p:nvSpPr>
        <p:spPr>
          <a:xfrm>
            <a:off x="4864608" y="4919472"/>
            <a:ext cx="347472" cy="347472"/>
          </a:xfrm>
          <a:prstGeom prst="ellipse">
            <a:avLst/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pic>
        <p:nvPicPr>
          <p:cNvPr id="72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51476" y="4999391"/>
            <a:ext cx="173736" cy="173736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5340096" y="4901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A2733"/>
                </a:solidFill>
              </a:rPr>
              <a:t>Topology integrity</a:t>
            </a:r>
            <a:endParaRPr lang="en-US" sz="830" dirty="0"/>
          </a:p>
        </p:txBody>
      </p:sp>
      <p:sp>
        <p:nvSpPr>
          <p:cNvPr id="74" name="Text 65"/>
          <p:cNvSpPr/>
          <p:nvPr/>
        </p:nvSpPr>
        <p:spPr>
          <a:xfrm>
            <a:off x="5340096" y="51297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Connectivity and network rules</a:t>
            </a:r>
            <a:endParaRPr lang="en-US" sz="720" dirty="0"/>
          </a:p>
        </p:txBody>
      </p:sp>
      <p:sp>
        <p:nvSpPr>
          <p:cNvPr id="75" name="Shape 66"/>
          <p:cNvSpPr/>
          <p:nvPr/>
        </p:nvSpPr>
        <p:spPr>
          <a:xfrm>
            <a:off x="7836408" y="4919472"/>
            <a:ext cx="347472" cy="347472"/>
          </a:xfrm>
          <a:prstGeom prst="ellipse">
            <a:avLst/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pic>
        <p:nvPicPr>
          <p:cNvPr id="76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23276" y="4999391"/>
            <a:ext cx="173736" cy="173736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8311896" y="4901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A2733"/>
                </a:solidFill>
              </a:rPr>
              <a:t>Migration readiness</a:t>
            </a:r>
            <a:endParaRPr lang="en-US" sz="830" dirty="0"/>
          </a:p>
        </p:txBody>
      </p:sp>
      <p:sp>
        <p:nvSpPr>
          <p:cNvPr id="78" name="Text 68"/>
          <p:cNvSpPr/>
          <p:nvPr/>
        </p:nvSpPr>
        <p:spPr>
          <a:xfrm>
            <a:off x="8311896" y="51297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GDB structure aligned to target platform</a:t>
            </a:r>
            <a:endParaRPr lang="en-US" sz="720" dirty="0"/>
          </a:p>
        </p:txBody>
      </p:sp>
      <p:sp>
        <p:nvSpPr>
          <p:cNvPr id="79" name="Text 69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UTILITY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Electrical delivery becomes auditable when field evidence, consumer indexing and final network maps are presented together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Mobile-app records and map products in the source deck provide the evidence chain from capture to final GIS deliverable.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6903720" cy="4361688"/>
          </a:xfrm>
          <a:prstGeom prst="roundRect">
            <a:avLst>
              <a:gd name="adj" fmla="val 1677"/>
            </a:avLst>
          </a:prstGeom>
          <a:solidFill>
            <a:srgbClr val="F8FBFD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4999999999999997e+74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8562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Evidence chain</a:t>
            </a:r>
            <a:endParaRPr lang="en-US" sz="1100" dirty="0"/>
          </a:p>
        </p:txBody>
      </p:sp>
      <p:pic>
        <p:nvPicPr>
          <p:cNvPr id="8" name="Image 1" descr="/mnt/data/srcppt/ppt/media/image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23" y="2286000"/>
            <a:ext cx="924290" cy="2057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847088" y="2999232"/>
            <a:ext cx="347472" cy="502920"/>
          </a:xfrm>
          <a:prstGeom prst="chevron">
            <a:avLst/>
          </a:prstGeom>
          <a:solidFill>
            <a:srgbClr val="CBE3ED"/>
          </a:solidFill>
          <a:ln w="12700">
            <a:solidFill>
              <a:srgbClr val="CBE3ED"/>
            </a:solidFill>
            <a:prstDash val="solid"/>
          </a:ln>
        </p:spPr>
      </p:sp>
      <p:pic>
        <p:nvPicPr>
          <p:cNvPr id="10" name="Image 2" descr="/mnt/data/srcppt/ppt/media/image2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885101"/>
            <a:ext cx="868680" cy="804333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56432" y="2999232"/>
            <a:ext cx="347472" cy="502920"/>
          </a:xfrm>
          <a:prstGeom prst="chevron">
            <a:avLst/>
          </a:prstGeom>
          <a:solidFill>
            <a:srgbClr val="CBE3ED"/>
          </a:solidFill>
          <a:ln w="12700">
            <a:solidFill>
              <a:srgbClr val="CBE3ED"/>
            </a:solidFill>
            <a:prstDash val="solid"/>
          </a:ln>
        </p:spPr>
      </p:sp>
      <p:pic>
        <p:nvPicPr>
          <p:cNvPr id="12" name="Image 3" descr="/mnt/data/srcppt/ppt/media/image3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546812"/>
            <a:ext cx="1691640" cy="130717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815584" y="2999232"/>
            <a:ext cx="347472" cy="502920"/>
          </a:xfrm>
          <a:prstGeom prst="chevron">
            <a:avLst/>
          </a:prstGeom>
          <a:solidFill>
            <a:srgbClr val="CBE3ED"/>
          </a:solidFill>
          <a:ln w="12700">
            <a:solidFill>
              <a:srgbClr val="CBE3ED"/>
            </a:solidFill>
            <a:prstDash val="solid"/>
          </a:ln>
        </p:spPr>
      </p:sp>
      <p:pic>
        <p:nvPicPr>
          <p:cNvPr id="14" name="Image 4" descr="/mnt/data/srcppt/ppt/media/image3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60698"/>
            <a:ext cx="960120" cy="67940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9808" y="45994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6A9E"/>
                </a:solidFill>
              </a:rPr>
              <a:t>Capture</a:t>
            </a:r>
            <a:endParaRPr lang="en-US" sz="780" dirty="0"/>
          </a:p>
        </p:txBody>
      </p:sp>
      <p:sp>
        <p:nvSpPr>
          <p:cNvPr id="16" name="Text 9"/>
          <p:cNvSpPr/>
          <p:nvPr/>
        </p:nvSpPr>
        <p:spPr>
          <a:xfrm>
            <a:off x="749808" y="4828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D8A"/>
                </a:solidFill>
              </a:rPr>
              <a:t>Field app</a:t>
            </a:r>
            <a:endParaRPr lang="en-US" sz="700" dirty="0"/>
          </a:p>
        </p:txBody>
      </p:sp>
      <p:sp>
        <p:nvSpPr>
          <p:cNvPr id="17" name="Text 10"/>
          <p:cNvSpPr/>
          <p:nvPr/>
        </p:nvSpPr>
        <p:spPr>
          <a:xfrm>
            <a:off x="2331720" y="45994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6A9E"/>
                </a:solidFill>
              </a:rPr>
              <a:t>Structure</a:t>
            </a:r>
            <a:endParaRPr lang="en-US" sz="780" dirty="0"/>
          </a:p>
        </p:txBody>
      </p:sp>
      <p:sp>
        <p:nvSpPr>
          <p:cNvPr id="18" name="Text 11"/>
          <p:cNvSpPr/>
          <p:nvPr/>
        </p:nvSpPr>
        <p:spPr>
          <a:xfrm>
            <a:off x="2331720" y="4828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D8A"/>
                </a:solidFill>
              </a:rPr>
              <a:t>Asset attributes</a:t>
            </a:r>
            <a:endParaRPr lang="en-US" sz="700" dirty="0"/>
          </a:p>
        </p:txBody>
      </p:sp>
      <p:sp>
        <p:nvSpPr>
          <p:cNvPr id="19" name="Text 12"/>
          <p:cNvSpPr/>
          <p:nvPr/>
        </p:nvSpPr>
        <p:spPr>
          <a:xfrm>
            <a:off x="4096512" y="45994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6A9E"/>
                </a:solidFill>
              </a:rPr>
              <a:t>Index</a:t>
            </a:r>
            <a:endParaRPr lang="en-US" sz="780" dirty="0"/>
          </a:p>
        </p:txBody>
      </p:sp>
      <p:sp>
        <p:nvSpPr>
          <p:cNvPr id="20" name="Text 13"/>
          <p:cNvSpPr/>
          <p:nvPr/>
        </p:nvSpPr>
        <p:spPr>
          <a:xfrm>
            <a:off x="4096512" y="4828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D8A"/>
                </a:solidFill>
              </a:rPr>
              <a:t>Consumer map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6163056" y="45994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6A9E"/>
                </a:solidFill>
              </a:rPr>
              <a:t>Deliver</a:t>
            </a:r>
            <a:endParaRPr lang="en-US" sz="780" dirty="0"/>
          </a:p>
        </p:txBody>
      </p:sp>
      <p:sp>
        <p:nvSpPr>
          <p:cNvPr id="22" name="Text 15"/>
          <p:cNvSpPr/>
          <p:nvPr/>
        </p:nvSpPr>
        <p:spPr>
          <a:xfrm>
            <a:off x="6163056" y="4828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D8A"/>
                </a:solidFill>
              </a:rPr>
              <a:t>Network map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749808" y="5285232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033"/>
                </a:solidFill>
              </a:rPr>
              <a:t>Result: a traceable GIS record linking asset coordinates, attributes, consumer context and approved network geometry.</a:t>
            </a:r>
            <a:endParaRPr lang="en-US" sz="920" dirty="0"/>
          </a:p>
        </p:txBody>
      </p:sp>
      <p:sp>
        <p:nvSpPr>
          <p:cNvPr id="24" name="Shape 17"/>
          <p:cNvSpPr/>
          <p:nvPr/>
        </p:nvSpPr>
        <p:spPr>
          <a:xfrm>
            <a:off x="7616952" y="1645920"/>
            <a:ext cx="3657600" cy="4361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5e+79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863840" y="18562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Electrical delivery outputs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863840" y="2331720"/>
            <a:ext cx="29260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Land-base / reference layers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asset network map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indexing map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GIS geodatabase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QA/QC status and corrections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Target-system migration package</a:t>
            </a:r>
            <a:endParaRPr lang="en-US" sz="860" dirty="0"/>
          </a:p>
        </p:txBody>
      </p:sp>
      <p:sp>
        <p:nvSpPr>
          <p:cNvPr id="27" name="Shape 20"/>
          <p:cNvSpPr/>
          <p:nvPr/>
        </p:nvSpPr>
        <p:spPr>
          <a:xfrm>
            <a:off x="7863840" y="4846320"/>
            <a:ext cx="2871216" cy="685800"/>
          </a:xfrm>
          <a:prstGeom prst="roundRect">
            <a:avLst>
              <a:gd name="adj" fmla="val 5333"/>
            </a:avLst>
          </a:prstGeom>
          <a:solidFill>
            <a:srgbClr val="EEF6FA"/>
          </a:solidFill>
          <a:ln w="12700">
            <a:solidFill>
              <a:srgbClr val="D0E6E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046720" y="501091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6A9E"/>
                </a:solidFill>
              </a:rPr>
              <a:t>Customer decision enabled</a:t>
            </a:r>
            <a:endParaRPr lang="en-US" sz="760" dirty="0"/>
          </a:p>
        </p:txBody>
      </p:sp>
      <p:sp>
        <p:nvSpPr>
          <p:cNvPr id="29" name="Text 22"/>
          <p:cNvSpPr/>
          <p:nvPr/>
        </p:nvSpPr>
        <p:spPr>
          <a:xfrm>
            <a:off x="9262872" y="493776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2033"/>
                </a:solidFill>
              </a:rPr>
              <a:t>Approve migration-ready network data with visible field lineage.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UTILITY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Water digitization connects distribution assets and consumer indexing to maintenance, leak-response and zone-level planning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supplied use case emphasizes GIS coordinates, GPS-enabled asset registers and water-distribution / DMA map outputs.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6565392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4999999999999998e+84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86537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Field-to-GIS workflow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603504" cy="603504"/>
          </a:xfrm>
          <a:prstGeom prst="ellipse">
            <a:avLst/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36" y="256196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15468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Survey</a:t>
            </a:r>
            <a:endParaRPr lang="en-US" sz="840" dirty="0"/>
          </a:p>
        </p:txBody>
      </p:sp>
      <p:sp>
        <p:nvSpPr>
          <p:cNvPr id="11" name="Shape 7"/>
          <p:cNvSpPr/>
          <p:nvPr/>
        </p:nvSpPr>
        <p:spPr>
          <a:xfrm>
            <a:off x="1581912" y="2606040"/>
            <a:ext cx="347472" cy="411480"/>
          </a:xfrm>
          <a:prstGeom prst="chevron">
            <a:avLst/>
          </a:prstGeom>
          <a:solidFill>
            <a:srgbClr val="C6EAF1"/>
          </a:solidFill>
          <a:ln w="12700">
            <a:solidFill>
              <a:srgbClr val="C6EAF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2423160"/>
            <a:ext cx="603504" cy="603504"/>
          </a:xfrm>
          <a:prstGeom prst="ellipse">
            <a:avLst/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8588" y="2561966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76272" y="315468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GPS capture</a:t>
            </a:r>
            <a:endParaRPr lang="en-US" sz="840" dirty="0"/>
          </a:p>
        </p:txBody>
      </p:sp>
      <p:sp>
        <p:nvSpPr>
          <p:cNvPr id="15" name="Shape 10"/>
          <p:cNvSpPr/>
          <p:nvPr/>
        </p:nvSpPr>
        <p:spPr>
          <a:xfrm>
            <a:off x="3026664" y="2606040"/>
            <a:ext cx="347472" cy="411480"/>
          </a:xfrm>
          <a:prstGeom prst="chevron">
            <a:avLst/>
          </a:prstGeom>
          <a:solidFill>
            <a:srgbClr val="C6EAF1"/>
          </a:solidFill>
          <a:ln w="12700">
            <a:solidFill>
              <a:srgbClr val="C6EAF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712464" y="2423160"/>
            <a:ext cx="603504" cy="603504"/>
          </a:xfrm>
          <a:prstGeom prst="ellipse">
            <a:avLst/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3340" y="2561966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21024" y="315468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GIS database</a:t>
            </a:r>
            <a:endParaRPr lang="en-US" sz="840" dirty="0"/>
          </a:p>
        </p:txBody>
      </p:sp>
      <p:sp>
        <p:nvSpPr>
          <p:cNvPr id="19" name="Shape 13"/>
          <p:cNvSpPr/>
          <p:nvPr/>
        </p:nvSpPr>
        <p:spPr>
          <a:xfrm>
            <a:off x="4471416" y="2606040"/>
            <a:ext cx="347472" cy="411480"/>
          </a:xfrm>
          <a:prstGeom prst="chevron">
            <a:avLst/>
          </a:prstGeom>
          <a:solidFill>
            <a:srgbClr val="C6EAF1"/>
          </a:solidFill>
          <a:ln w="12700">
            <a:solidFill>
              <a:srgbClr val="C6EA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157216" y="2423160"/>
            <a:ext cx="603504" cy="603504"/>
          </a:xfrm>
          <a:prstGeom prst="ellipse">
            <a:avLst/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08092" y="2561966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65776" y="315468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A2733"/>
                </a:solidFill>
              </a:rPr>
              <a:t>Dashboard</a:t>
            </a:r>
            <a:endParaRPr lang="en-US" sz="840" dirty="0"/>
          </a:p>
        </p:txBody>
      </p:sp>
      <p:sp>
        <p:nvSpPr>
          <p:cNvPr id="23" name="Text 16"/>
          <p:cNvSpPr/>
          <p:nvPr/>
        </p:nvSpPr>
        <p:spPr>
          <a:xfrm>
            <a:off x="749808" y="3703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033"/>
                </a:solidFill>
              </a:rPr>
              <a:t>Representative assets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749808" y="4078224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22960" y="4114800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A7C7"/>
                </a:solidFill>
              </a:rPr>
              <a:t>Valves</a:t>
            </a:r>
            <a:endParaRPr lang="en-US" sz="720" dirty="0"/>
          </a:p>
        </p:txBody>
      </p:sp>
      <p:sp>
        <p:nvSpPr>
          <p:cNvPr id="26" name="Shape 19"/>
          <p:cNvSpPr/>
          <p:nvPr/>
        </p:nvSpPr>
        <p:spPr>
          <a:xfrm>
            <a:off x="2350008" y="4078224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423160" y="4114800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A7C7"/>
                </a:solidFill>
              </a:rPr>
              <a:t>Hydrants</a:t>
            </a:r>
            <a:endParaRPr lang="en-US" sz="720" dirty="0"/>
          </a:p>
        </p:txBody>
      </p:sp>
      <p:sp>
        <p:nvSpPr>
          <p:cNvPr id="28" name="Shape 21"/>
          <p:cNvSpPr/>
          <p:nvPr/>
        </p:nvSpPr>
        <p:spPr>
          <a:xfrm>
            <a:off x="749808" y="4553712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22960" y="459028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A7C7"/>
                </a:solidFill>
              </a:rPr>
              <a:t>Meters</a:t>
            </a:r>
            <a:endParaRPr lang="en-US" sz="720" dirty="0"/>
          </a:p>
        </p:txBody>
      </p:sp>
      <p:sp>
        <p:nvSpPr>
          <p:cNvPr id="30" name="Shape 23"/>
          <p:cNvSpPr/>
          <p:nvPr/>
        </p:nvSpPr>
        <p:spPr>
          <a:xfrm>
            <a:off x="2350008" y="4553712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423160" y="459028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A7C7"/>
                </a:solidFill>
              </a:rPr>
              <a:t>Consumer connections</a:t>
            </a:r>
            <a:endParaRPr lang="en-US" sz="720" dirty="0"/>
          </a:p>
        </p:txBody>
      </p:sp>
      <p:sp>
        <p:nvSpPr>
          <p:cNvPr id="32" name="Text 25"/>
          <p:cNvSpPr/>
          <p:nvPr/>
        </p:nvSpPr>
        <p:spPr>
          <a:xfrm>
            <a:off x="4096512" y="3703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033"/>
                </a:solidFill>
              </a:rPr>
              <a:t>Key outputs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096512" y="4050792"/>
            <a:ext cx="251460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distribution network GIS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indexing database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GPS-enabled asset register</a:t>
            </a:r>
            <a:endParaRPr lang="en-US" sz="830" dirty="0"/>
          </a:p>
          <a:p>
            <a:pPr marL="152400" indent="-152400">
              <a:buSzPct val="100000"/>
              <a:buChar char="•"/>
            </a:pPr>
            <a:r>
              <a:rPr lang="en-US" sz="83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Zonal / DMA-wise utility maps</a:t>
            </a:r>
            <a:endParaRPr lang="en-US" sz="830" dirty="0"/>
          </a:p>
        </p:txBody>
      </p:sp>
      <p:sp>
        <p:nvSpPr>
          <p:cNvPr id="34" name="Shape 27"/>
          <p:cNvSpPr/>
          <p:nvPr/>
        </p:nvSpPr>
        <p:spPr>
          <a:xfrm>
            <a:off x="7296912" y="1645920"/>
            <a:ext cx="3977640" cy="4370832"/>
          </a:xfrm>
          <a:prstGeom prst="roundRect">
            <a:avLst>
              <a:gd name="adj" fmla="val 1839"/>
            </a:avLst>
          </a:prstGeom>
          <a:solidFill>
            <a:srgbClr val="F5FAFC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4999999999999998e+89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571232" y="186537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Business outcomes in source deck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571232" y="23408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A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30–40%</a:t>
            </a:r>
            <a:endParaRPr lang="en-US" sz="2200" dirty="0"/>
          </a:p>
        </p:txBody>
      </p:sp>
      <p:sp>
        <p:nvSpPr>
          <p:cNvPr id="37" name="Text 30"/>
          <p:cNvSpPr/>
          <p:nvPr/>
        </p:nvSpPr>
        <p:spPr>
          <a:xfrm>
            <a:off x="7571232" y="27340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A2733"/>
                </a:solidFill>
              </a:rPr>
              <a:t>reduction in asset search time</a:t>
            </a:r>
            <a:endParaRPr lang="en-US" sz="870" dirty="0"/>
          </a:p>
        </p:txBody>
      </p:sp>
      <p:sp>
        <p:nvSpPr>
          <p:cNvPr id="38" name="Text 31"/>
          <p:cNvSpPr/>
          <p:nvPr/>
        </p:nvSpPr>
        <p:spPr>
          <a:xfrm>
            <a:off x="7571232" y="3035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Source-deck claim; baseline validation required</a:t>
            </a:r>
            <a:endParaRPr lang="en-US" sz="720" dirty="0"/>
          </a:p>
        </p:txBody>
      </p:sp>
      <p:sp>
        <p:nvSpPr>
          <p:cNvPr id="39" name="Text 32"/>
          <p:cNvSpPr/>
          <p:nvPr/>
        </p:nvSpPr>
        <p:spPr>
          <a:xfrm>
            <a:off x="7571232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A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10,000+</a:t>
            </a:r>
            <a:endParaRPr lang="en-US" sz="2200" dirty="0"/>
          </a:p>
        </p:txBody>
      </p:sp>
      <p:sp>
        <p:nvSpPr>
          <p:cNvPr id="40" name="Text 33"/>
          <p:cNvSpPr/>
          <p:nvPr/>
        </p:nvSpPr>
        <p:spPr>
          <a:xfrm>
            <a:off x="7571232" y="3794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A2733"/>
                </a:solidFill>
              </a:rPr>
              <a:t>assets / day collection capability</a:t>
            </a:r>
            <a:endParaRPr lang="en-US" sz="870" dirty="0"/>
          </a:p>
        </p:txBody>
      </p:sp>
      <p:sp>
        <p:nvSpPr>
          <p:cNvPr id="41" name="Text 34"/>
          <p:cNvSpPr/>
          <p:nvPr/>
        </p:nvSpPr>
        <p:spPr>
          <a:xfrm>
            <a:off x="7571232" y="4096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Source-deck capability statement</a:t>
            </a:r>
            <a:endParaRPr lang="en-US" sz="720" dirty="0"/>
          </a:p>
        </p:txBody>
      </p:sp>
      <p:sp>
        <p:nvSpPr>
          <p:cNvPr id="42" name="Text 35"/>
          <p:cNvSpPr/>
          <p:nvPr/>
        </p:nvSpPr>
        <p:spPr>
          <a:xfrm>
            <a:off x="7571232" y="4480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A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95%+</a:t>
            </a:r>
            <a:endParaRPr lang="en-US" sz="2200" dirty="0"/>
          </a:p>
        </p:txBody>
      </p:sp>
      <p:sp>
        <p:nvSpPr>
          <p:cNvPr id="43" name="Text 36"/>
          <p:cNvSpPr/>
          <p:nvPr/>
        </p:nvSpPr>
        <p:spPr>
          <a:xfrm>
            <a:off x="7571232" y="4873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A2733"/>
                </a:solidFill>
              </a:rPr>
              <a:t>location accuracy</a:t>
            </a:r>
            <a:endParaRPr lang="en-US" sz="870" dirty="0"/>
          </a:p>
        </p:txBody>
      </p:sp>
      <p:sp>
        <p:nvSpPr>
          <p:cNvPr id="44" name="Text 37"/>
          <p:cNvSpPr/>
          <p:nvPr/>
        </p:nvSpPr>
        <p:spPr>
          <a:xfrm>
            <a:off x="7571232" y="51755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Source-deck claim</a:t>
            </a:r>
            <a:endParaRPr lang="en-US" sz="720" dirty="0"/>
          </a:p>
        </p:txBody>
      </p:sp>
      <p:sp>
        <p:nvSpPr>
          <p:cNvPr id="45" name="Text 38"/>
          <p:cNvSpPr/>
          <p:nvPr/>
        </p:nvSpPr>
        <p:spPr>
          <a:xfrm>
            <a:off x="7571232" y="55595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44554"/>
                </a:solidFill>
              </a:rPr>
              <a:t>Additional stated benefits: improved leak identification, better maintenance planning and regulatory-compliance support.</a:t>
            </a:r>
            <a:endParaRPr lang="en-US" sz="820" dirty="0"/>
          </a:p>
        </p:txBody>
      </p:sp>
      <p:sp>
        <p:nvSpPr>
          <p:cNvPr id="46" name="Text 39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UTILITY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Water operations gain value when mobile capture, network maps and zonal intelligence are delivered as one operational dataset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collection, photo capture, GPS validation and synchronization are part of the source use case.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8FBFD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4999999999999998e+94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847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Mobile field collection</a:t>
            </a:r>
            <a:endParaRPr lang="en-US" sz="1100" dirty="0"/>
          </a:p>
        </p:txBody>
      </p:sp>
      <p:pic>
        <p:nvPicPr>
          <p:cNvPr id="8" name="Image 1" descr="/mnt/data/srcppt/ppt/media/image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8117"/>
            <a:ext cx="1005840" cy="2238925"/>
          </a:xfrm>
          <a:prstGeom prst="rect">
            <a:avLst/>
          </a:prstGeom>
        </p:spPr>
      </p:pic>
      <p:pic>
        <p:nvPicPr>
          <p:cNvPr id="9" name="Image 2" descr="/mnt/data/srcppt/ppt/media/image2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2459533"/>
            <a:ext cx="932688" cy="20760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4754880"/>
            <a:ext cx="2971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connection mapping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photo capture + geo-tagging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data collection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validation and synchronization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4407408" y="164592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4999999999999998e+99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663440" y="18470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Distribution and consumer map outputs</a:t>
            </a:r>
            <a:endParaRPr lang="en-US" sz="1100" dirty="0"/>
          </a:p>
        </p:txBody>
      </p:sp>
      <p:pic>
        <p:nvPicPr>
          <p:cNvPr id="13" name="Image 3" descr="/mnt/data/srcppt/ppt/media/image3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439" y="2331720"/>
            <a:ext cx="2366682" cy="1828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3440" y="44622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9E"/>
                </a:solidFill>
              </a:rPr>
              <a:t>Typical delivery maps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4663440" y="4754880"/>
            <a:ext cx="26974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1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distribution network</a:t>
            </a:r>
            <a:endParaRPr lang="en-US" sz="810" dirty="0"/>
          </a:p>
          <a:p>
            <a:pPr marL="152400" indent="-152400">
              <a:buSzPct val="100000"/>
              <a:buChar char="•"/>
            </a:pPr>
            <a:r>
              <a:rPr lang="en-US" sz="81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indexing</a:t>
            </a:r>
            <a:endParaRPr lang="en-US" sz="810" dirty="0"/>
          </a:p>
          <a:p>
            <a:pPr marL="152400" indent="-152400">
              <a:buSzPct val="100000"/>
              <a:buChar char="•"/>
            </a:pPr>
            <a:r>
              <a:rPr lang="en-US" sz="81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Zonal / DMA-wise utility views</a:t>
            </a:r>
            <a:endParaRPr lang="en-US" sz="810" dirty="0"/>
          </a:p>
        </p:txBody>
      </p:sp>
      <p:sp>
        <p:nvSpPr>
          <p:cNvPr id="16" name="Shape 10"/>
          <p:cNvSpPr/>
          <p:nvPr/>
        </p:nvSpPr>
        <p:spPr>
          <a:xfrm>
            <a:off x="8302752" y="1645920"/>
            <a:ext cx="2971800" cy="4389120"/>
          </a:xfrm>
          <a:prstGeom prst="roundRect">
            <a:avLst>
              <a:gd name="adj" fmla="val 2462"/>
            </a:avLst>
          </a:prstGeom>
          <a:solidFill>
            <a:srgbClr val="0B2033"/>
          </a:solidFill>
          <a:ln w="10160">
            <a:solidFill>
              <a:srgbClr val="0B2033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5e+104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8577072" y="1883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Operational intelligence</a:t>
            </a:r>
            <a:endParaRPr lang="en-US" sz="1200" dirty="0"/>
          </a:p>
        </p:txBody>
      </p:sp>
      <p:pic>
        <p:nvPicPr>
          <p:cNvPr id="18" name="Image 4" descr="/mnt/data/srcppt/ppt/media/image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843" y="2359152"/>
            <a:ext cx="1984186" cy="14996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77072" y="416052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D9EC"/>
                </a:solidFill>
              </a:rPr>
              <a:t>Asset visibility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9710928" y="413308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DDEAF1"/>
                </a:solidFill>
              </a:rPr>
              <a:t>Locate and validate field assets</a:t>
            </a:r>
            <a:endParaRPr lang="en-US" sz="710" dirty="0"/>
          </a:p>
        </p:txBody>
      </p:sp>
      <p:sp>
        <p:nvSpPr>
          <p:cNvPr id="21" name="Text 14"/>
          <p:cNvSpPr/>
          <p:nvPr/>
        </p:nvSpPr>
        <p:spPr>
          <a:xfrm>
            <a:off x="8577072" y="45628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D9EC"/>
                </a:solidFill>
              </a:rPr>
              <a:t>Maintenance planning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9710928" y="453542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DDEAF1"/>
                </a:solidFill>
              </a:rPr>
              <a:t>Prioritize inspections and work</a:t>
            </a:r>
            <a:endParaRPr lang="en-US" sz="710" dirty="0"/>
          </a:p>
        </p:txBody>
      </p:sp>
      <p:sp>
        <p:nvSpPr>
          <p:cNvPr id="23" name="Text 16"/>
          <p:cNvSpPr/>
          <p:nvPr/>
        </p:nvSpPr>
        <p:spPr>
          <a:xfrm>
            <a:off x="8577072" y="496519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D9EC"/>
                </a:solidFill>
              </a:rPr>
              <a:t>Leak response</a:t>
            </a:r>
            <a:endParaRPr lang="en-US" sz="750" dirty="0"/>
          </a:p>
        </p:txBody>
      </p:sp>
      <p:sp>
        <p:nvSpPr>
          <p:cNvPr id="24" name="Text 17"/>
          <p:cNvSpPr/>
          <p:nvPr/>
        </p:nvSpPr>
        <p:spPr>
          <a:xfrm>
            <a:off x="9710928" y="493776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DDEAF1"/>
                </a:solidFill>
              </a:rPr>
              <a:t>Improve spatial context for incidents</a:t>
            </a:r>
            <a:endParaRPr lang="en-US" sz="710" dirty="0"/>
          </a:p>
        </p:txBody>
      </p:sp>
      <p:sp>
        <p:nvSpPr>
          <p:cNvPr id="25" name="Text 18"/>
          <p:cNvSpPr/>
          <p:nvPr/>
        </p:nvSpPr>
        <p:spPr>
          <a:xfrm>
            <a:off x="8577072" y="53675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D9EC"/>
                </a:solidFill>
              </a:rPr>
              <a:t>Zone control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9710928" y="5340096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DDEAF1"/>
                </a:solidFill>
              </a:rPr>
              <a:t>Support DMA / zonal decisions</a:t>
            </a:r>
            <a:endParaRPr lang="en-US" sz="710" dirty="0"/>
          </a:p>
        </p:txBody>
      </p:sp>
      <p:sp>
        <p:nvSpPr>
          <p:cNvPr id="27" name="Text 20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 UTILITY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Gas digitization prioritizes safety-critical asset traceability, service connections and pressure-area intelligence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use case combines GPS survey, photo documentation, optional barcode / QR capture and GIS map generation.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4999999999999999e+109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Assets captured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" y="2295144"/>
            <a:ext cx="329184" cy="329184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04" y="2370856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331720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44554"/>
                </a:solidFill>
              </a:rPr>
              <a:t>Pipelines</a:t>
            </a:r>
            <a:endParaRPr lang="en-US" sz="820" dirty="0"/>
          </a:p>
        </p:txBody>
      </p:sp>
      <p:sp>
        <p:nvSpPr>
          <p:cNvPr id="11" name="Shape 7"/>
          <p:cNvSpPr/>
          <p:nvPr/>
        </p:nvSpPr>
        <p:spPr>
          <a:xfrm>
            <a:off x="749808" y="2798064"/>
            <a:ext cx="329184" cy="329184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104" y="2873776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834640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44554"/>
                </a:solidFill>
              </a:rPr>
              <a:t>Valves</a:t>
            </a:r>
            <a:endParaRPr lang="en-US" sz="820" dirty="0"/>
          </a:p>
        </p:txBody>
      </p:sp>
      <p:sp>
        <p:nvSpPr>
          <p:cNvPr id="14" name="Shape 9"/>
          <p:cNvSpPr/>
          <p:nvPr/>
        </p:nvSpPr>
        <p:spPr>
          <a:xfrm>
            <a:off x="749808" y="3300984"/>
            <a:ext cx="329184" cy="329184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04" y="3376696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337560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44554"/>
                </a:solidFill>
              </a:rPr>
              <a:t>Regulators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749808" y="3803904"/>
            <a:ext cx="329184" cy="329184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104" y="3879616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3840480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44554"/>
                </a:solidFill>
              </a:rPr>
              <a:t>Service connections</a:t>
            </a:r>
            <a:endParaRPr lang="en-US" sz="820" dirty="0"/>
          </a:p>
        </p:txBody>
      </p:sp>
      <p:sp>
        <p:nvSpPr>
          <p:cNvPr id="20" name="Shape 13"/>
          <p:cNvSpPr/>
          <p:nvPr/>
        </p:nvSpPr>
        <p:spPr>
          <a:xfrm>
            <a:off x="749808" y="4306824"/>
            <a:ext cx="329184" cy="329184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104" y="4382536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88720" y="4343400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44554"/>
                </a:solidFill>
              </a:rPr>
              <a:t>Meters</a:t>
            </a:r>
            <a:endParaRPr lang="en-US" sz="820" dirty="0"/>
          </a:p>
        </p:txBody>
      </p:sp>
      <p:sp>
        <p:nvSpPr>
          <p:cNvPr id="23" name="Shape 15"/>
          <p:cNvSpPr/>
          <p:nvPr/>
        </p:nvSpPr>
        <p:spPr>
          <a:xfrm>
            <a:off x="749808" y="4809744"/>
            <a:ext cx="329184" cy="329184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2104" y="4885456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88720" y="4846320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44554"/>
                </a:solidFill>
              </a:rPr>
              <a:t>Pressure stations</a:t>
            </a:r>
            <a:endParaRPr lang="en-US" sz="820" dirty="0"/>
          </a:p>
        </p:txBody>
      </p:sp>
      <p:sp>
        <p:nvSpPr>
          <p:cNvPr id="26" name="Shape 17"/>
          <p:cNvSpPr/>
          <p:nvPr/>
        </p:nvSpPr>
        <p:spPr>
          <a:xfrm>
            <a:off x="416052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F7FAFC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4999999999999997e+114"/>
              </a:srgbClr>
            </a:outerShdw>
          </a:effectLst>
        </p:spPr>
      </p:sp>
      <p:sp>
        <p:nvSpPr>
          <p:cNvPr id="27" name="Text 18"/>
          <p:cNvSpPr/>
          <p:nvPr/>
        </p:nvSpPr>
        <p:spPr>
          <a:xfrm>
            <a:off x="4416552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33"/>
                </a:solidFill>
              </a:rPr>
              <a:t>Process flow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416552" y="2359152"/>
            <a:ext cx="384048" cy="384048"/>
          </a:xfrm>
          <a:prstGeom prst="ellipse">
            <a:avLst/>
          </a:prstGeom>
          <a:solidFill>
            <a:srgbClr val="46667D"/>
          </a:solidFill>
          <a:ln w="12700">
            <a:solidFill>
              <a:srgbClr val="46667D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4416552" y="24231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4919472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A2733"/>
                </a:solidFill>
              </a:rPr>
              <a:t>Field survey</a:t>
            </a:r>
            <a:endParaRPr lang="en-US" sz="920" dirty="0"/>
          </a:p>
        </p:txBody>
      </p:sp>
      <p:sp>
        <p:nvSpPr>
          <p:cNvPr id="31" name="Text 22"/>
          <p:cNvSpPr/>
          <p:nvPr/>
        </p:nvSpPr>
        <p:spPr>
          <a:xfrm>
            <a:off x="4919472" y="25877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7D8A"/>
                </a:solidFill>
              </a:rPr>
              <a:t>GPS-enabled asset and consumer capture</a:t>
            </a:r>
            <a:endParaRPr lang="en-US" sz="730" dirty="0"/>
          </a:p>
        </p:txBody>
      </p:sp>
      <p:sp>
        <p:nvSpPr>
          <p:cNvPr id="32" name="Shape 23"/>
          <p:cNvSpPr/>
          <p:nvPr/>
        </p:nvSpPr>
        <p:spPr>
          <a:xfrm>
            <a:off x="4416552" y="3054096"/>
            <a:ext cx="384048" cy="384048"/>
          </a:xfrm>
          <a:prstGeom prst="ellipse">
            <a:avLst/>
          </a:prstGeom>
          <a:solidFill>
            <a:srgbClr val="46667D"/>
          </a:solidFill>
          <a:ln w="12700">
            <a:solidFill>
              <a:srgbClr val="46667D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416552" y="31181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4919472" y="3044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A2733"/>
                </a:solidFill>
              </a:rPr>
              <a:t>Asset capture</a:t>
            </a:r>
            <a:endParaRPr lang="en-US" sz="920" dirty="0"/>
          </a:p>
        </p:txBody>
      </p:sp>
      <p:sp>
        <p:nvSpPr>
          <p:cNvPr id="35" name="Text 26"/>
          <p:cNvSpPr/>
          <p:nvPr/>
        </p:nvSpPr>
        <p:spPr>
          <a:xfrm>
            <a:off x="4919472" y="32826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7D8A"/>
                </a:solidFill>
              </a:rPr>
              <a:t>Attributes, photos and identifiers</a:t>
            </a:r>
            <a:endParaRPr lang="en-US" sz="730" dirty="0"/>
          </a:p>
        </p:txBody>
      </p:sp>
      <p:sp>
        <p:nvSpPr>
          <p:cNvPr id="36" name="Shape 27"/>
          <p:cNvSpPr/>
          <p:nvPr/>
        </p:nvSpPr>
        <p:spPr>
          <a:xfrm>
            <a:off x="4416552" y="3749040"/>
            <a:ext cx="384048" cy="384048"/>
          </a:xfrm>
          <a:prstGeom prst="ellipse">
            <a:avLst/>
          </a:prstGeom>
          <a:solidFill>
            <a:srgbClr val="46667D"/>
          </a:solidFill>
          <a:ln w="12700">
            <a:solidFill>
              <a:srgbClr val="46667D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4416552" y="38130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4919472" y="37398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A2733"/>
                </a:solidFill>
              </a:rPr>
              <a:t>QA/QC</a:t>
            </a:r>
            <a:endParaRPr lang="en-US" sz="920" dirty="0"/>
          </a:p>
        </p:txBody>
      </p:sp>
      <p:sp>
        <p:nvSpPr>
          <p:cNvPr id="39" name="Text 30"/>
          <p:cNvSpPr/>
          <p:nvPr/>
        </p:nvSpPr>
        <p:spPr>
          <a:xfrm>
            <a:off x="4919472" y="3977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7D8A"/>
                </a:solidFill>
              </a:rPr>
              <a:t>Spatial and attribute validation</a:t>
            </a:r>
            <a:endParaRPr lang="en-US" sz="730" dirty="0"/>
          </a:p>
        </p:txBody>
      </p:sp>
      <p:sp>
        <p:nvSpPr>
          <p:cNvPr id="40" name="Shape 31"/>
          <p:cNvSpPr/>
          <p:nvPr/>
        </p:nvSpPr>
        <p:spPr>
          <a:xfrm>
            <a:off x="4416552" y="4443984"/>
            <a:ext cx="384048" cy="384048"/>
          </a:xfrm>
          <a:prstGeom prst="ellipse">
            <a:avLst/>
          </a:prstGeom>
          <a:solidFill>
            <a:srgbClr val="46667D"/>
          </a:solidFill>
          <a:ln w="12700">
            <a:solidFill>
              <a:srgbClr val="46667D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4416552" y="45079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4919472" y="4434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A2733"/>
                </a:solidFill>
              </a:rPr>
              <a:t>GIS database</a:t>
            </a:r>
            <a:endParaRPr lang="en-US" sz="920" dirty="0"/>
          </a:p>
        </p:txBody>
      </p:sp>
      <p:sp>
        <p:nvSpPr>
          <p:cNvPr id="43" name="Text 34"/>
          <p:cNvSpPr/>
          <p:nvPr/>
        </p:nvSpPr>
        <p:spPr>
          <a:xfrm>
            <a:off x="4919472" y="46725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7D8A"/>
                </a:solidFill>
              </a:rPr>
              <a:t>Structured network and consumer records</a:t>
            </a:r>
            <a:endParaRPr lang="en-US" sz="730" dirty="0"/>
          </a:p>
        </p:txBody>
      </p:sp>
      <p:sp>
        <p:nvSpPr>
          <p:cNvPr id="44" name="Shape 35"/>
          <p:cNvSpPr/>
          <p:nvPr/>
        </p:nvSpPr>
        <p:spPr>
          <a:xfrm>
            <a:off x="4416552" y="5138928"/>
            <a:ext cx="384048" cy="384048"/>
          </a:xfrm>
          <a:prstGeom prst="ellipse">
            <a:avLst/>
          </a:prstGeom>
          <a:solidFill>
            <a:srgbClr val="46667D"/>
          </a:solidFill>
          <a:ln w="12700">
            <a:solidFill>
              <a:srgbClr val="46667D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416552" y="520293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4919472" y="51297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A2733"/>
                </a:solidFill>
              </a:rPr>
              <a:t>Operations dashboard</a:t>
            </a:r>
            <a:endParaRPr lang="en-US" sz="920" dirty="0"/>
          </a:p>
        </p:txBody>
      </p:sp>
      <p:sp>
        <p:nvSpPr>
          <p:cNvPr id="47" name="Text 38"/>
          <p:cNvSpPr/>
          <p:nvPr/>
        </p:nvSpPr>
        <p:spPr>
          <a:xfrm>
            <a:off x="4919472" y="53675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7D8A"/>
                </a:solidFill>
              </a:rPr>
              <a:t>Maps and service-area intelligence</a:t>
            </a:r>
            <a:endParaRPr lang="en-US" sz="730" dirty="0"/>
          </a:p>
        </p:txBody>
      </p:sp>
      <p:sp>
        <p:nvSpPr>
          <p:cNvPr id="48" name="Shape 39"/>
          <p:cNvSpPr/>
          <p:nvPr/>
        </p:nvSpPr>
        <p:spPr>
          <a:xfrm>
            <a:off x="8183880" y="1645920"/>
            <a:ext cx="3090672" cy="4389120"/>
          </a:xfrm>
          <a:prstGeom prst="roundRect">
            <a:avLst>
              <a:gd name="adj" fmla="val 2367"/>
            </a:avLst>
          </a:prstGeom>
          <a:solidFill>
            <a:srgbClr val="0B2033"/>
          </a:solidFill>
          <a:ln w="10160">
            <a:solidFill>
              <a:srgbClr val="0B2033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4999999999999998e+119"/>
              </a:srgbClr>
            </a:outerShdw>
          </a:effectLst>
        </p:spPr>
      </p:sp>
      <p:sp>
        <p:nvSpPr>
          <p:cNvPr id="49" name="Text 40"/>
          <p:cNvSpPr/>
          <p:nvPr/>
        </p:nvSpPr>
        <p:spPr>
          <a:xfrm>
            <a:off x="8439912" y="1883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Stated business value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8439912" y="2331720"/>
            <a:ext cx="2468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DD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safety compliance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DD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leak response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DD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asset loss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DD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Accurate network inventory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8439912" y="3840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79D3EB"/>
                </a:solidFill>
              </a:rPr>
              <a:t>Source-deck KPI claims</a:t>
            </a:r>
            <a:endParaRPr lang="en-US" sz="820" dirty="0"/>
          </a:p>
        </p:txBody>
      </p:sp>
      <p:sp>
        <p:nvSpPr>
          <p:cNvPr id="52" name="Text 43"/>
          <p:cNvSpPr/>
          <p:nvPr/>
        </p:nvSpPr>
        <p:spPr>
          <a:xfrm>
            <a:off x="8439912" y="42245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95%+</a:t>
            </a:r>
            <a:endParaRPr lang="en-US" sz="2100" dirty="0"/>
          </a:p>
        </p:txBody>
      </p:sp>
      <p:sp>
        <p:nvSpPr>
          <p:cNvPr id="53" name="Text 44"/>
          <p:cNvSpPr/>
          <p:nvPr/>
        </p:nvSpPr>
        <p:spPr>
          <a:xfrm>
            <a:off x="9418320" y="4315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AF1"/>
                </a:solidFill>
              </a:rPr>
              <a:t>survey accuracy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8439912" y="47914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40%</a:t>
            </a:r>
            <a:endParaRPr lang="en-US" sz="2100" dirty="0"/>
          </a:p>
        </p:txBody>
      </p:sp>
      <p:sp>
        <p:nvSpPr>
          <p:cNvPr id="55" name="Text 46"/>
          <p:cNvSpPr/>
          <p:nvPr/>
        </p:nvSpPr>
        <p:spPr>
          <a:xfrm>
            <a:off x="9418320" y="4855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DEAF1"/>
                </a:solidFill>
              </a:rPr>
              <a:t>reduction in field revisit</a:t>
            </a:r>
            <a:endParaRPr lang="en-US" sz="800" dirty="0"/>
          </a:p>
        </p:txBody>
      </p:sp>
      <p:sp>
        <p:nvSpPr>
          <p:cNvPr id="56" name="Text 47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 UTILITY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Gas delivery is strongest when field-survey proof, network imagery and pressure-zone outputs can be reviewed side by side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creates a practical evidence package for safety, network expansion and emergency-response planning.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pic>
        <p:nvPicPr>
          <p:cNvPr id="6" name="Image 1" descr="/mnt/data/srcppt/ppt/media/image34.png">    </p:cNvPr>
          <p:cNvPicPr>
            <a:picLocks noChangeAspect="1"/>
          </p:cNvPicPr>
          <p:nvPr/>
        </p:nvPicPr>
        <p:blipFill>
          <a:blip r:embed="rId2"/>
          <a:srcRect l="22006" r="22006" t="0" b="0"/>
          <a:stretch/>
        </p:blipFill>
        <p:spPr>
          <a:xfrm>
            <a:off x="502920" y="1691640"/>
            <a:ext cx="3657600" cy="3794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4919472"/>
            <a:ext cx="3657600" cy="566928"/>
          </a:xfrm>
          <a:prstGeom prst="rect">
            <a:avLst/>
          </a:prstGeom>
          <a:solidFill>
            <a:srgbClr val="0B2033">
              <a:alpha val="95000"/>
            </a:srgbClr>
          </a:solidFill>
          <a:ln w="12700">
            <a:solidFill>
              <a:srgbClr val="0B2033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0840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GPS-enabled field survey + photo documentation</a:t>
            </a:r>
            <a:endParaRPr lang="en-US" sz="830" dirty="0"/>
          </a:p>
        </p:txBody>
      </p:sp>
      <p:sp>
        <p:nvSpPr>
          <p:cNvPr id="9" name="Shape 5"/>
          <p:cNvSpPr/>
          <p:nvPr/>
        </p:nvSpPr>
        <p:spPr>
          <a:xfrm>
            <a:off x="4407408" y="1691640"/>
            <a:ext cx="3703320" cy="3794760"/>
          </a:xfrm>
          <a:prstGeom prst="roundRect">
            <a:avLst>
              <a:gd name="adj" fmla="val 1975"/>
            </a:avLst>
          </a:prstGeom>
          <a:solidFill>
            <a:srgbClr val="F7FAFC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4999999999999997e+124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1901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33"/>
                </a:solidFill>
              </a:rPr>
              <a:t>Network / service-area map evidence</a:t>
            </a:r>
            <a:endParaRPr lang="en-US" sz="1000" dirty="0"/>
          </a:p>
        </p:txBody>
      </p:sp>
      <p:pic>
        <p:nvPicPr>
          <p:cNvPr id="11" name="Image 2" descr="/mnt/data/srcppt/ppt/media/image3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458430"/>
            <a:ext cx="3154680" cy="17125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90872" y="4480560"/>
            <a:ext cx="278892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1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 distribution network maps</a:t>
            </a:r>
            <a:endParaRPr lang="en-US" sz="810" dirty="0"/>
          </a:p>
          <a:p>
            <a:pPr marL="152400" indent="-152400">
              <a:buSzPct val="100000"/>
              <a:buChar char="•"/>
            </a:pPr>
            <a:r>
              <a:rPr lang="en-US" sz="81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indexing maps</a:t>
            </a:r>
            <a:endParaRPr lang="en-US" sz="810" dirty="0"/>
          </a:p>
          <a:p>
            <a:pPr marL="152400" indent="-152400">
              <a:buSzPct val="100000"/>
              <a:buChar char="•"/>
            </a:pPr>
            <a:r>
              <a:rPr lang="en-US" sz="81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Pressure-zone / service-area maps</a:t>
            </a:r>
            <a:endParaRPr lang="en-US" sz="810" dirty="0"/>
          </a:p>
        </p:txBody>
      </p:sp>
      <p:sp>
        <p:nvSpPr>
          <p:cNvPr id="13" name="Shape 8"/>
          <p:cNvSpPr/>
          <p:nvPr/>
        </p:nvSpPr>
        <p:spPr>
          <a:xfrm>
            <a:off x="8348472" y="1691640"/>
            <a:ext cx="2926080" cy="3794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4999999999999998e+129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613648" y="19019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33"/>
                </a:solidFill>
              </a:rPr>
              <a:t>Operational uses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613648" y="2359152"/>
            <a:ext cx="365760" cy="365760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5088" y="2443277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8280" y="23957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344554"/>
                </a:solidFill>
              </a:rPr>
              <a:t>Leak management</a:t>
            </a:r>
            <a:endParaRPr lang="en-US" sz="830" dirty="0"/>
          </a:p>
        </p:txBody>
      </p:sp>
      <p:sp>
        <p:nvSpPr>
          <p:cNvPr id="18" name="Shape 12"/>
          <p:cNvSpPr/>
          <p:nvPr/>
        </p:nvSpPr>
        <p:spPr>
          <a:xfrm>
            <a:off x="8613648" y="3035808"/>
            <a:ext cx="365760" cy="365760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05088" y="3119933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098280" y="30723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344554"/>
                </a:solidFill>
              </a:rPr>
              <a:t>Network expansion</a:t>
            </a:r>
            <a:endParaRPr lang="en-US" sz="830" dirty="0"/>
          </a:p>
        </p:txBody>
      </p:sp>
      <p:sp>
        <p:nvSpPr>
          <p:cNvPr id="21" name="Shape 14"/>
          <p:cNvSpPr/>
          <p:nvPr/>
        </p:nvSpPr>
        <p:spPr>
          <a:xfrm>
            <a:off x="8613648" y="3712464"/>
            <a:ext cx="365760" cy="365760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05088" y="3796589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098280" y="3749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344554"/>
                </a:solidFill>
              </a:rPr>
              <a:t>Pressure monitoring</a:t>
            </a:r>
            <a:endParaRPr lang="en-US" sz="830" dirty="0"/>
          </a:p>
        </p:txBody>
      </p:sp>
      <p:sp>
        <p:nvSpPr>
          <p:cNvPr id="24" name="Shape 16"/>
          <p:cNvSpPr/>
          <p:nvPr/>
        </p:nvSpPr>
        <p:spPr>
          <a:xfrm>
            <a:off x="8613648" y="4389120"/>
            <a:ext cx="365760" cy="365760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05088" y="4473245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98280" y="44256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344554"/>
                </a:solidFill>
              </a:rPr>
              <a:t>Emergency response</a:t>
            </a:r>
            <a:endParaRPr lang="en-US" sz="830" dirty="0"/>
          </a:p>
        </p:txBody>
      </p:sp>
      <p:sp>
        <p:nvSpPr>
          <p:cNvPr id="27" name="Shape 18"/>
          <p:cNvSpPr/>
          <p:nvPr/>
        </p:nvSpPr>
        <p:spPr>
          <a:xfrm>
            <a:off x="8595360" y="5001768"/>
            <a:ext cx="2212848" cy="27432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D5E0E6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8705088" y="5074920"/>
            <a:ext cx="1975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46667D"/>
                </a:solidFill>
              </a:rPr>
              <a:t>Asset visibility → Network intelligence</a:t>
            </a:r>
            <a:endParaRPr lang="en-US" sz="660" dirty="0"/>
          </a:p>
        </p:txBody>
      </p:sp>
      <p:sp>
        <p:nvSpPr>
          <p:cNvPr id="29" name="Text 20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common geospatial data model creates consistent asset, consumer and topology records while preserving utility-specific attributes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can standardize cross-utility governance without flattening electrical, water or gas domain logic.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87952" y="1874520"/>
            <a:ext cx="3813048" cy="3383280"/>
          </a:xfrm>
          <a:prstGeom prst="roundRect">
            <a:avLst>
              <a:gd name="adj" fmla="val 2162"/>
            </a:avLst>
          </a:prstGeom>
          <a:solidFill>
            <a:srgbClr val="0B2033"/>
          </a:solidFill>
          <a:ln w="10160">
            <a:solidFill>
              <a:srgbClr val="0B2033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1.4999999999999998e+134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90288" y="2130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Common utility GIS core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2706624"/>
            <a:ext cx="2514600" cy="256032"/>
          </a:xfrm>
          <a:prstGeom prst="roundRect">
            <a:avLst>
              <a:gd name="adj" fmla="val 42857"/>
            </a:avLst>
          </a:prstGeom>
          <a:solidFill>
            <a:srgbClr val="173A50"/>
          </a:solidFill>
          <a:ln w="12700">
            <a:solidFill>
              <a:srgbClr val="173A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2743200"/>
            <a:ext cx="2368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F2FA"/>
                </a:solidFill>
              </a:rPr>
              <a:t>Asset ID + class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754880" y="3090672"/>
            <a:ext cx="2514600" cy="256032"/>
          </a:xfrm>
          <a:prstGeom prst="roundRect">
            <a:avLst>
              <a:gd name="adj" fmla="val 42857"/>
            </a:avLst>
          </a:prstGeom>
          <a:solidFill>
            <a:srgbClr val="173A50"/>
          </a:solidFill>
          <a:ln w="12700">
            <a:solidFill>
              <a:srgbClr val="173A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3127248"/>
            <a:ext cx="2368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F2FA"/>
                </a:solidFill>
              </a:rPr>
              <a:t>Coordinates + geometry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4754880" y="3474720"/>
            <a:ext cx="2514600" cy="256032"/>
          </a:xfrm>
          <a:prstGeom prst="roundRect">
            <a:avLst>
              <a:gd name="adj" fmla="val 42857"/>
            </a:avLst>
          </a:prstGeom>
          <a:solidFill>
            <a:srgbClr val="173A50"/>
          </a:solidFill>
          <a:ln w="12700">
            <a:solidFill>
              <a:srgbClr val="173A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8032" y="3511296"/>
            <a:ext cx="2368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F2FA"/>
                </a:solidFill>
              </a:rPr>
              <a:t>Consumer / service link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4754880" y="3858768"/>
            <a:ext cx="2514600" cy="256032"/>
          </a:xfrm>
          <a:prstGeom prst="roundRect">
            <a:avLst>
              <a:gd name="adj" fmla="val 42857"/>
            </a:avLst>
          </a:prstGeom>
          <a:solidFill>
            <a:srgbClr val="173A50"/>
          </a:solidFill>
          <a:ln w="12700">
            <a:solidFill>
              <a:srgbClr val="173A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8032" y="3895344"/>
            <a:ext cx="2368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F2FA"/>
                </a:solidFill>
              </a:rPr>
              <a:t>Photo / field evidence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4754880" y="4242816"/>
            <a:ext cx="2514600" cy="256032"/>
          </a:xfrm>
          <a:prstGeom prst="roundRect">
            <a:avLst>
              <a:gd name="adj" fmla="val 42857"/>
            </a:avLst>
          </a:prstGeom>
          <a:solidFill>
            <a:srgbClr val="173A50"/>
          </a:solidFill>
          <a:ln w="12700">
            <a:solidFill>
              <a:srgbClr val="173A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8032" y="4279392"/>
            <a:ext cx="2368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F2FA"/>
                </a:solidFill>
              </a:rPr>
              <a:t>Status + QA disposition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4754880" y="4626864"/>
            <a:ext cx="2514600" cy="256032"/>
          </a:xfrm>
          <a:prstGeom prst="roundRect">
            <a:avLst>
              <a:gd name="adj" fmla="val 42857"/>
            </a:avLst>
          </a:prstGeom>
          <a:solidFill>
            <a:srgbClr val="173A50"/>
          </a:solidFill>
          <a:ln w="12700">
            <a:solidFill>
              <a:srgbClr val="173A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4663440"/>
            <a:ext cx="2368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F2FA"/>
                </a:solidFill>
              </a:rPr>
              <a:t>Connectivity / topology rules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502920" y="1664208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1.4999999999999997e+139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68096" y="1947672"/>
            <a:ext cx="475488" cy="475488"/>
          </a:xfrm>
          <a:prstGeom prst="ellipse">
            <a:avLst/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968" y="205703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89888" y="19933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6B7"/>
                </a:solidFill>
              </a:rPr>
              <a:t>Electrical-specific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68096" y="2487168"/>
            <a:ext cx="26517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Pole and conductor attributes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and electrical assets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Pole codification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topology / connectivity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502920" y="3858768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1.4999999999999998e+144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68096" y="4142232"/>
            <a:ext cx="475488" cy="475488"/>
          </a:xfrm>
          <a:prstGeom prst="ellipse">
            <a:avLst/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968" y="425159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89888" y="41879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A7C7"/>
                </a:solidFill>
              </a:rPr>
              <a:t>Water-specific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68096" y="4681728"/>
            <a:ext cx="26517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Valve / hydrant / meter attributes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distribution hierarchy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Zonal / DMA associations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 and maintenance context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8439912" y="2624328"/>
            <a:ext cx="2834640" cy="2258568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1.4999999999999998e+149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705088" y="2907792"/>
            <a:ext cx="475488" cy="475488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3960" y="301715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26880" y="29535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667D"/>
                </a:solidFill>
              </a:rPr>
              <a:t>Gas-specific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705088" y="3438144"/>
            <a:ext cx="221284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/ valve / regulator attributes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 and service-connection linkage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 station records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dirty="0">
                <a:solidFill>
                  <a:srgbClr val="344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Pressure-zone / service-area context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3749040" y="2761488"/>
            <a:ext cx="438912" cy="0"/>
          </a:xfrm>
          <a:prstGeom prst="line">
            <a:avLst/>
          </a:prstGeom>
          <a:noFill/>
          <a:ln w="25400">
            <a:solidFill>
              <a:srgbClr val="A9C9D7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3749040" y="4800600"/>
            <a:ext cx="438912" cy="-594360"/>
          </a:xfrm>
          <a:prstGeom prst="line">
            <a:avLst/>
          </a:prstGeom>
          <a:noFill/>
          <a:ln w="25400">
            <a:solidFill>
              <a:srgbClr val="A9C9D7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8001000" y="3730752"/>
            <a:ext cx="438912" cy="0"/>
          </a:xfrm>
          <a:prstGeom prst="line">
            <a:avLst/>
          </a:prstGeom>
          <a:noFill/>
          <a:ln w="25400">
            <a:solidFill>
              <a:srgbClr val="A9C9D7"/>
            </a:solidFill>
            <a:prstDash val="solid"/>
            <a:headEnd type="triangle"/>
          </a:ln>
        </p:spPr>
      </p:sp>
      <p:sp>
        <p:nvSpPr>
          <p:cNvPr id="38" name="Text 32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&amp; GOVERNANCE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is engineered through gate-based controls—from field completeness to topology integrity and migration readiness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material repeatedly places QA/QC before customer approval and final GIS migration; this slide consolidates those controls into a single governance model.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847088"/>
            <a:ext cx="1591056" cy="241401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07568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211226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G1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667512" y="2587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2033"/>
                </a:solidFill>
              </a:rPr>
              <a:t>Field completeness</a:t>
            </a:r>
            <a:endParaRPr lang="en-US" sz="910" dirty="0"/>
          </a:p>
        </p:txBody>
      </p:sp>
      <p:sp>
        <p:nvSpPr>
          <p:cNvPr id="10" name="Text 7"/>
          <p:cNvSpPr/>
          <p:nvPr/>
        </p:nvSpPr>
        <p:spPr>
          <a:xfrm>
            <a:off x="676656" y="312724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Asset present, coordinate captured, mandatory attributes and evidence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2148840" y="2743200"/>
            <a:ext cx="283464" cy="438912"/>
          </a:xfrm>
          <a:prstGeom prst="chevron">
            <a:avLst/>
          </a:prstGeom>
          <a:solidFill>
            <a:srgbClr val="C8DFE9"/>
          </a:solidFill>
          <a:ln w="12700">
            <a:solidFill>
              <a:srgbClr val="C8DF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86584" y="1847088"/>
            <a:ext cx="1591056" cy="241401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16352" y="207568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89504" y="211226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G2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2523744" y="2587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2033"/>
                </a:solidFill>
              </a:rPr>
              <a:t>Spatial QA</a:t>
            </a:r>
            <a:endParaRPr lang="en-US" sz="910" dirty="0"/>
          </a:p>
        </p:txBody>
      </p:sp>
      <p:sp>
        <p:nvSpPr>
          <p:cNvPr id="16" name="Text 13"/>
          <p:cNvSpPr/>
          <p:nvPr/>
        </p:nvSpPr>
        <p:spPr>
          <a:xfrm>
            <a:off x="2532888" y="312724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Base-map fit, GPS precision, geometry and positional plausibility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4005072" y="2743200"/>
            <a:ext cx="283464" cy="438912"/>
          </a:xfrm>
          <a:prstGeom prst="chevron">
            <a:avLst/>
          </a:prstGeom>
          <a:solidFill>
            <a:srgbClr val="C8DFE9"/>
          </a:solidFill>
          <a:ln w="12700">
            <a:solidFill>
              <a:srgbClr val="C8DF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42816" y="1847088"/>
            <a:ext cx="1591056" cy="241401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72584" y="207568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45736" y="211226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G3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379976" y="2587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2033"/>
                </a:solidFill>
              </a:rPr>
              <a:t>Attribute QA</a:t>
            </a:r>
            <a:endParaRPr lang="en-US" sz="910" dirty="0"/>
          </a:p>
        </p:txBody>
      </p:sp>
      <p:sp>
        <p:nvSpPr>
          <p:cNvPr id="22" name="Text 19"/>
          <p:cNvSpPr/>
          <p:nvPr/>
        </p:nvSpPr>
        <p:spPr>
          <a:xfrm>
            <a:off x="4389120" y="312724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Codes, names, IDs, consumer linkage and utility-specific fields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5861304" y="2743200"/>
            <a:ext cx="283464" cy="438912"/>
          </a:xfrm>
          <a:prstGeom prst="chevron">
            <a:avLst/>
          </a:prstGeom>
          <a:solidFill>
            <a:srgbClr val="C8DFE9"/>
          </a:solidFill>
          <a:ln w="12700">
            <a:solidFill>
              <a:srgbClr val="C8DF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99048" y="1847088"/>
            <a:ext cx="1591056" cy="241401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28816" y="207568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01968" y="211226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G4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236208" y="2587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2033"/>
                </a:solidFill>
              </a:rPr>
              <a:t>Topology QA</a:t>
            </a:r>
            <a:endParaRPr lang="en-US" sz="910" dirty="0"/>
          </a:p>
        </p:txBody>
      </p:sp>
      <p:sp>
        <p:nvSpPr>
          <p:cNvPr id="28" name="Text 25"/>
          <p:cNvSpPr/>
          <p:nvPr/>
        </p:nvSpPr>
        <p:spPr>
          <a:xfrm>
            <a:off x="6245352" y="312724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Connectivity, network rules, gaps, overlaps and logical relationships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7717536" y="2743200"/>
            <a:ext cx="283464" cy="438912"/>
          </a:xfrm>
          <a:prstGeom prst="chevron">
            <a:avLst/>
          </a:prstGeom>
          <a:solidFill>
            <a:srgbClr val="C8DFE9"/>
          </a:solidFill>
          <a:ln w="12700">
            <a:solidFill>
              <a:srgbClr val="C8DFE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55280" y="1847088"/>
            <a:ext cx="1591056" cy="2414016"/>
          </a:xfrm>
          <a:prstGeom prst="roundRect">
            <a:avLst>
              <a:gd name="adj" fmla="val 4598"/>
            </a:avLst>
          </a:prstGeom>
          <a:solidFill>
            <a:srgbClr val="F2F9FC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85048" y="207568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006A9E"/>
          </a:solidFill>
          <a:ln w="12700">
            <a:solidFill>
              <a:srgbClr val="006A9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58200" y="211226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G5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8092440" y="2587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2033"/>
                </a:solidFill>
              </a:rPr>
              <a:t>Customer approval</a:t>
            </a:r>
            <a:endParaRPr lang="en-US" sz="910" dirty="0"/>
          </a:p>
        </p:txBody>
      </p:sp>
      <p:sp>
        <p:nvSpPr>
          <p:cNvPr id="34" name="Text 31"/>
          <p:cNvSpPr/>
          <p:nvPr/>
        </p:nvSpPr>
        <p:spPr>
          <a:xfrm>
            <a:off x="8101584" y="312724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Review corrections, exceptions and delivery acceptance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9573768" y="2743200"/>
            <a:ext cx="283464" cy="438912"/>
          </a:xfrm>
          <a:prstGeom prst="chevron">
            <a:avLst/>
          </a:prstGeom>
          <a:solidFill>
            <a:srgbClr val="C8DFE9"/>
          </a:solidFill>
          <a:ln w="12700">
            <a:solidFill>
              <a:srgbClr val="C8DFE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11512" y="1847088"/>
            <a:ext cx="1591056" cy="241401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241280" y="207568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314432" y="211226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G6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9948672" y="2587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2033"/>
                </a:solidFill>
              </a:rPr>
              <a:t>Migration readiness</a:t>
            </a:r>
            <a:endParaRPr lang="en-US" sz="910" dirty="0"/>
          </a:p>
        </p:txBody>
      </p:sp>
      <p:sp>
        <p:nvSpPr>
          <p:cNvPr id="40" name="Text 37"/>
          <p:cNvSpPr/>
          <p:nvPr/>
        </p:nvSpPr>
        <p:spPr>
          <a:xfrm>
            <a:off x="9957816" y="312724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D8A"/>
                </a:solidFill>
              </a:rPr>
              <a:t>GDB / target-system schema, packaging and traceability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530352" y="4553712"/>
            <a:ext cx="10917936" cy="1298448"/>
          </a:xfrm>
          <a:prstGeom prst="roundRect">
            <a:avLst>
              <a:gd name="adj" fmla="val 5634"/>
            </a:avLst>
          </a:prstGeom>
          <a:solidFill>
            <a:srgbClr val="0B2033"/>
          </a:solidFill>
          <a:ln w="10160">
            <a:solidFill>
              <a:srgbClr val="0B2033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1.4999999999999998e+154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768096" y="482803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9D3EB"/>
                </a:solidFill>
              </a:rPr>
              <a:t>Field team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768096" y="5138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Capture + first-time completeness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2843784" y="482803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9D3EB"/>
                </a:solidFill>
              </a:rPr>
              <a:t>GIS production</a:t>
            </a:r>
            <a:endParaRPr lang="en-US" sz="820" dirty="0"/>
          </a:p>
        </p:txBody>
      </p:sp>
      <p:sp>
        <p:nvSpPr>
          <p:cNvPr id="45" name="Text 42"/>
          <p:cNvSpPr/>
          <p:nvPr/>
        </p:nvSpPr>
        <p:spPr>
          <a:xfrm>
            <a:off x="2843784" y="5138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Digitization + model compliance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4919472" y="482803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9D3EB"/>
                </a:solidFill>
              </a:rPr>
              <a:t>QA / GIS manager</a:t>
            </a:r>
            <a:endParaRPr lang="en-US" sz="820" dirty="0"/>
          </a:p>
        </p:txBody>
      </p:sp>
      <p:sp>
        <p:nvSpPr>
          <p:cNvPr id="47" name="Text 44"/>
          <p:cNvSpPr/>
          <p:nvPr/>
        </p:nvSpPr>
        <p:spPr>
          <a:xfrm>
            <a:off x="4919472" y="5138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Independent quality gates + exceptions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6995160" y="482803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9D3EB"/>
                </a:solidFill>
              </a:rPr>
              <a:t>Customer</a:t>
            </a:r>
            <a:endParaRPr lang="en-US" sz="820" dirty="0"/>
          </a:p>
        </p:txBody>
      </p:sp>
      <p:sp>
        <p:nvSpPr>
          <p:cNvPr id="49" name="Text 46"/>
          <p:cNvSpPr/>
          <p:nvPr/>
        </p:nvSpPr>
        <p:spPr>
          <a:xfrm>
            <a:off x="6995160" y="5138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Standards, approvals + acceptance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9070848" y="482803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9D3EB"/>
                </a:solidFill>
              </a:rPr>
              <a:t>Program management</a:t>
            </a:r>
            <a:endParaRPr lang="en-US" sz="820" dirty="0"/>
          </a:p>
        </p:txBody>
      </p:sp>
      <p:sp>
        <p:nvSpPr>
          <p:cNvPr id="51" name="Text 48"/>
          <p:cNvSpPr/>
          <p:nvPr/>
        </p:nvSpPr>
        <p:spPr>
          <a:xfrm>
            <a:off x="9070848" y="5138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Governance, reporting + escalations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Metrics should be validated against the customer baseline before external commitment.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006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738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mobilize-to-scale roadmap can validate standards early, prove field-to-GIS quality in a pilot and then expand by geography or utility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is illustrative because the source deck does not specify project durations; timing should be baselined with the customer.</a:t>
            </a:r>
            <a:endParaRPr lang="en-US" sz="1050" dirty="0"/>
          </a:p>
        </p:txBody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4677"/>
            <a:ext cx="1143000" cy="423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56232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1.4999999999999999e+159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20848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033"/>
                </a:solidFill>
              </a:rPr>
              <a:t>01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25786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Mobilize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090672"/>
            <a:ext cx="1572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44554"/>
                </a:solidFill>
              </a:rPr>
              <a:t>Scope, stakeholders, standards, data access, field permissions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4187952"/>
            <a:ext cx="1572768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38912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A9E"/>
                </a:solidFill>
              </a:rPr>
              <a:t>Exit output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85800" y="46451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2033"/>
                </a:solidFill>
              </a:rPr>
              <a:t>Approved plan + readiness checklist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496312" y="3200400"/>
            <a:ext cx="246888" cy="475488"/>
          </a:xfrm>
          <a:prstGeom prst="chevron">
            <a:avLst/>
          </a:prstGeom>
          <a:solidFill>
            <a:srgbClr val="BEDAE6"/>
          </a:solidFill>
          <a:ln w="12700">
            <a:solidFill>
              <a:srgbClr val="BEDA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34056" y="1856232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1.5e+164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916936" y="20848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033"/>
                </a:solidFill>
              </a:rPr>
              <a:t>02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916936" y="25786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Design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16936" y="3090672"/>
            <a:ext cx="1572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44554"/>
                </a:solidFill>
              </a:rPr>
              <a:t>Data model, taxonomy, topology rules, mobile forms, QA gates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916936" y="4187952"/>
            <a:ext cx="1572768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16936" y="438912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A9E"/>
                </a:solidFill>
              </a:rPr>
              <a:t>Exit output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2916936" y="46451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2033"/>
                </a:solidFill>
              </a:rPr>
              <a:t>Configured solution + acceptance criteria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727448" y="3200400"/>
            <a:ext cx="246888" cy="475488"/>
          </a:xfrm>
          <a:prstGeom prst="chevron">
            <a:avLst/>
          </a:prstGeom>
          <a:solidFill>
            <a:srgbClr val="BEDAE6"/>
          </a:solidFill>
          <a:ln w="12700">
            <a:solidFill>
              <a:srgbClr val="BEDA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65192" y="1856232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1F9FC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00000">
                <a:alpha val="1.5e+169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148072" y="20848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9E"/>
                </a:solidFill>
              </a:rPr>
              <a:t>03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148072" y="25786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Pilot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48072" y="3090672"/>
            <a:ext cx="1572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44554"/>
                </a:solidFill>
              </a:rPr>
              <a:t>Controlled area, representative assets, evidence capture, customer review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148072" y="4187952"/>
            <a:ext cx="1572768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8072" y="438912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A9E"/>
                </a:solidFill>
              </a:rPr>
              <a:t>Exit output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5148072" y="46451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2033"/>
                </a:solidFill>
              </a:rPr>
              <a:t>Validated workflow + quality baseline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958584" y="3200400"/>
            <a:ext cx="246888" cy="475488"/>
          </a:xfrm>
          <a:prstGeom prst="chevron">
            <a:avLst/>
          </a:prstGeom>
          <a:solidFill>
            <a:srgbClr val="BEDAE6"/>
          </a:solidFill>
          <a:ln w="12700">
            <a:solidFill>
              <a:srgbClr val="BEDA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96328" y="1856232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8.593305054458923e+143" dist="4.296652527229462e+143" dir="7.735818598867904e+168">
              <a:srgbClr val="000000">
                <a:alpha val="1.5e+174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379208" y="20848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033"/>
                </a:solidFill>
              </a:rPr>
              <a:t>04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7379208" y="25786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379208" y="3090672"/>
            <a:ext cx="1572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44554"/>
                </a:solidFill>
              </a:rPr>
              <a:t>Scaled field collection, GIS production, QA/QC and reporting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379208" y="4187952"/>
            <a:ext cx="1572768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79208" y="438912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A9E"/>
                </a:solidFill>
              </a:rPr>
              <a:t>Exit output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7379208" y="46451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2033"/>
                </a:solidFill>
              </a:rPr>
              <a:t>Approved network + consumer datasets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189720" y="3200400"/>
            <a:ext cx="246888" cy="475488"/>
          </a:xfrm>
          <a:prstGeom prst="chevron">
            <a:avLst/>
          </a:prstGeom>
          <a:solidFill>
            <a:srgbClr val="BEDAE6"/>
          </a:solidFill>
          <a:ln w="12700">
            <a:solidFill>
              <a:srgbClr val="BEDAE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427464" y="1856232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8E3E9"/>
            </a:solidFill>
            <a:prstDash val="solid"/>
          </a:ln>
          <a:effectLst>
            <a:outerShdw sx="100000" sy="100000" kx="0" ky="0" algn="bl" rotWithShape="0" blurRad="1.0913497419162833e+148" dist="5.4567487095814166e+147" dir="4.6414911593207425e+173">
              <a:srgbClr val="000000">
                <a:alpha val="1.5e+179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610344" y="20848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033"/>
                </a:solidFill>
              </a:rPr>
              <a:t>05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9610344" y="25786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033"/>
                </a:solidFill>
              </a:rPr>
              <a:t>Migrate &amp; operate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610344" y="3090672"/>
            <a:ext cx="1572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44554"/>
                </a:solidFill>
              </a:rPr>
              <a:t>GDB packaging, target GIS migration, dashboards and handover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9610344" y="4187952"/>
            <a:ext cx="1572768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610344" y="438912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6A9E"/>
                </a:solidFill>
              </a:rPr>
              <a:t>Exit output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9610344" y="46451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2033"/>
                </a:solidFill>
              </a:rPr>
              <a:t>Operational GIS + support model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502920" y="5623560"/>
            <a:ext cx="10881360" cy="393192"/>
          </a:xfrm>
          <a:prstGeom prst="roundRect">
            <a:avLst>
              <a:gd name="adj" fmla="val 9302"/>
            </a:avLst>
          </a:prstGeom>
          <a:solidFill>
            <a:srgbClr val="EAF5FA"/>
          </a:solidFill>
          <a:ln w="12700">
            <a:solidFill>
              <a:srgbClr val="D0E7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9808" y="5724144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2033"/>
                </a:solidFill>
              </a:rPr>
              <a:t>Scale logic: validate once → standardize repeatable controls → expand by service area / geography → tune only the utility-specific data model and field rules.</a:t>
            </a:r>
            <a:endParaRPr lang="en-US" sz="870" dirty="0"/>
          </a:p>
        </p:txBody>
      </p:sp>
      <p:sp>
        <p:nvSpPr>
          <p:cNvPr id="47" name="Text 44"/>
          <p:cNvSpPr/>
          <p:nvPr/>
        </p:nvSpPr>
        <p:spPr>
          <a:xfrm>
            <a:off x="502920" y="62453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i="1" dirty="0">
                <a:solidFill>
                  <a:srgbClr val="7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JSAN utility use-case presentation supplied by user. Roadmap sequencing is an illustrative synthesis; durations are not stated in the source.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465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D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3"/>
          </a:solidFill>
          <a:ln w="12700">
            <a:solidFill>
              <a:srgbClr val="0B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06240" cy="4206240"/>
          </a:xfrm>
          <a:prstGeom prst="arc">
            <a:avLst/>
          </a:prstGeom>
          <a:solidFill>
            <a:srgbClr val="006A9E">
              <a:alpha val="78000"/>
            </a:srgbClr>
          </a:solidFill>
          <a:ln w="12700">
            <a:solidFill>
              <a:srgbClr val="006A9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2971800"/>
            <a:ext cx="3246120" cy="3794760"/>
          </a:xfrm>
          <a:prstGeom prst="arc">
            <a:avLst/>
          </a:prstGeom>
          <a:solidFill>
            <a:srgbClr val="00A6D6">
              <a:alpha val="50000"/>
            </a:srgbClr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pic>
        <p:nvPicPr>
          <p:cNvPr id="5" name="Image 0" descr="/mnt/data/image(20260807-1306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386" y="621792"/>
            <a:ext cx="1604772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672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field reality to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utility intelligence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9D3EB"/>
                </a:solidFill>
              </a:rPr>
              <a:t>Electrical • Water • Gas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3794760"/>
            <a:ext cx="5806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6ED"/>
                </a:solidFill>
              </a:rPr>
              <a:t>A repeatable GIS delivery backbone for asset visibility, network intelligence, operational efficiency and digital transformation.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5925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www.jsanconsulting.com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9144000" y="5925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JSAN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JSAN Consulting | Utility Network Intelligence</dc:title>
  <dc:subject>Utility Mapping – Electrical, Water &amp; Gas</dc:subject>
  <dc:creator>JSAN Consulting</dc:creator>
  <cp:lastModifiedBy>JSAN Consulting</cp:lastModifiedBy>
  <cp:revision>1</cp:revision>
  <dcterms:created xsi:type="dcterms:W3CDTF">2026-08-07T13:13:47Z</dcterms:created>
  <dcterms:modified xsi:type="dcterms:W3CDTF">2026-08-07T13:13:47Z</dcterms:modified>
</cp:coreProperties>
</file>